
<file path=[Content_Types].xml><?xml version="1.0" encoding="utf-8"?>
<Types xmlns="http://schemas.openxmlformats.org/package/2006/content-types">
  <Default Extension="gif" ContentType="image/gif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comments/modernComment_112_6FBA3DF8.xml" ContentType="application/vnd.ms-powerpoint.comments+xml"/>
  <Override PartName="/ppt/comments/modernComment_10D_DD59C40D.xml" ContentType="application/vnd.ms-powerpoint.comment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0"/>
  </p:notesMasterIdLst>
  <p:sldIdLst>
    <p:sldId id="272" r:id="rId5"/>
    <p:sldId id="263" r:id="rId6"/>
    <p:sldId id="274" r:id="rId7"/>
    <p:sldId id="280" r:id="rId8"/>
    <p:sldId id="269" r:id="rId9"/>
    <p:sldId id="275" r:id="rId10"/>
    <p:sldId id="270" r:id="rId11"/>
    <p:sldId id="284" r:id="rId12"/>
    <p:sldId id="286" r:id="rId13"/>
    <p:sldId id="276" r:id="rId14"/>
    <p:sldId id="281" r:id="rId15"/>
    <p:sldId id="277" r:id="rId16"/>
    <p:sldId id="278" r:id="rId17"/>
    <p:sldId id="28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73BC259-B2AE-68CD-253D-D1E29458BE19}" name="DePauw, Nicole" initials="ND" userId="S::Nicole.DePauw@gov.mb.ca::89f2a595-c5ca-4a21-a132-5a4fe4cb580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renton Burton" initials="TB" lastIdx="4" clrIdx="0">
    <p:extLst>
      <p:ext uri="{19B8F6BF-5375-455C-9EA6-DF929625EA0E}">
        <p15:presenceInfo xmlns:p15="http://schemas.microsoft.com/office/powerpoint/2012/main" userId="S::trenton.burton@mb.bluecross.ca::35e5bdfd-0ea0-41ca-8624-1ae668bcd26e" providerId="AD"/>
      </p:ext>
    </p:extLst>
  </p:cmAuthor>
  <p:cmAuthor id="2" name="Philipp Gaba" initials="PG" lastIdx="1" clrIdx="1">
    <p:extLst>
      <p:ext uri="{19B8F6BF-5375-455C-9EA6-DF929625EA0E}">
        <p15:presenceInfo xmlns:p15="http://schemas.microsoft.com/office/powerpoint/2012/main" userId="S::Philipp.Gaba@mb.bluecross.ca::65401a02-4a16-46ad-b38a-4c478145a792" providerId="AD"/>
      </p:ext>
    </p:extLst>
  </p:cmAuthor>
  <p:cmAuthor id="3" name="Julie-Ann Waite" initials="JAW" lastIdx="1" clrIdx="2">
    <p:extLst>
      <p:ext uri="{19B8F6BF-5375-455C-9EA6-DF929625EA0E}">
        <p15:presenceInfo xmlns:p15="http://schemas.microsoft.com/office/powerpoint/2012/main" userId="S::Julie-Ann.Waite@mb.bluecross.ca::0f9fa25e-762f-4116-bf45-60ff1e5aad6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91D0"/>
    <a:srgbClr val="EEF5FC"/>
    <a:srgbClr val="DCEEFB"/>
    <a:srgbClr val="515151"/>
    <a:srgbClr val="003348"/>
    <a:srgbClr val="E47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7468" autoAdjust="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2592" y="5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Pauw, Nicole" userId="89f2a595-c5ca-4a21-a132-5a4fe4cb5808" providerId="ADAL" clId="{DAABD26C-0D52-4473-A7C3-7C56F37252D6}"/>
    <pc:docChg chg="modSld">
      <pc:chgData name="DePauw, Nicole" userId="89f2a595-c5ca-4a21-a132-5a4fe4cb5808" providerId="ADAL" clId="{DAABD26C-0D52-4473-A7C3-7C56F37252D6}" dt="2025-06-02T19:52:37.408" v="1" actId="1076"/>
      <pc:docMkLst>
        <pc:docMk/>
      </pc:docMkLst>
      <pc:sldChg chg="modSp mod">
        <pc:chgData name="DePauw, Nicole" userId="89f2a595-c5ca-4a21-a132-5a4fe4cb5808" providerId="ADAL" clId="{DAABD26C-0D52-4473-A7C3-7C56F37252D6}" dt="2025-06-02T19:52:37.408" v="1" actId="1076"/>
        <pc:sldMkLst>
          <pc:docMk/>
          <pc:sldMk cId="1537042067" sldId="280"/>
        </pc:sldMkLst>
        <pc:spChg chg="mod">
          <ac:chgData name="DePauw, Nicole" userId="89f2a595-c5ca-4a21-a132-5a4fe4cb5808" providerId="ADAL" clId="{DAABD26C-0D52-4473-A7C3-7C56F37252D6}" dt="2025-06-02T19:52:37.408" v="1" actId="1076"/>
          <ac:spMkLst>
            <pc:docMk/>
            <pc:sldMk cId="1537042067" sldId="280"/>
            <ac:spMk id="3" creationId="{C1D92CC8-EE31-2FC3-83EE-70E580D9606A}"/>
          </ac:spMkLst>
        </pc:spChg>
      </pc:sldChg>
    </pc:docChg>
  </pc:docChgLst>
  <pc:docChgLst>
    <pc:chgData name="DePauw, Nicole" userId="89f2a595-c5ca-4a21-a132-5a4fe4cb5808" providerId="ADAL" clId="{D6A2AD38-5C57-4BEC-B217-EEEB0B7CF1D8}"/>
    <pc:docChg chg="modSld">
      <pc:chgData name="DePauw, Nicole" userId="89f2a595-c5ca-4a21-a132-5a4fe4cb5808" providerId="ADAL" clId="{D6A2AD38-5C57-4BEC-B217-EEEB0B7CF1D8}" dt="2025-07-25T16:47:03.872" v="0" actId="1076"/>
      <pc:docMkLst>
        <pc:docMk/>
      </pc:docMkLst>
      <pc:sldChg chg="modSp mod">
        <pc:chgData name="DePauw, Nicole" userId="89f2a595-c5ca-4a21-a132-5a4fe4cb5808" providerId="ADAL" clId="{D6A2AD38-5C57-4BEC-B217-EEEB0B7CF1D8}" dt="2025-07-25T16:47:03.872" v="0" actId="1076"/>
        <pc:sldMkLst>
          <pc:docMk/>
          <pc:sldMk cId="1338744016" sldId="278"/>
        </pc:sldMkLst>
        <pc:spChg chg="mod">
          <ac:chgData name="DePauw, Nicole" userId="89f2a595-c5ca-4a21-a132-5a4fe4cb5808" providerId="ADAL" clId="{D6A2AD38-5C57-4BEC-B217-EEEB0B7CF1D8}" dt="2025-07-25T16:47:03.872" v="0" actId="1076"/>
          <ac:spMkLst>
            <pc:docMk/>
            <pc:sldMk cId="1338744016" sldId="278"/>
            <ac:spMk id="4" creationId="{FB11D7FF-54EE-AE01-75D0-346DFE7FBA13}"/>
          </ac:spMkLst>
        </pc:spChg>
      </pc:sldChg>
    </pc:docChg>
  </pc:docChgLst>
</pc:chgInfo>
</file>

<file path=ppt/comments/modernComment_10D_DD59C40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2A765E2-44B8-4BED-878F-B07A1F565BC2}" authorId="{A73BC259-B2AE-68CD-253D-D1E29458BE19}" created="2025-03-07T14:58:35.68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713647629" sldId="269"/>
      <ac:spMk id="7" creationId="{E1A33F09-173E-D4E3-B2CF-E590569C3C0D}"/>
      <ac:txMk cp="175" len="229">
        <ac:context len="1008" hash="1779046379"/>
      </ac:txMk>
    </ac:txMkLst>
    <p188:pos x="11123695" y="1086764"/>
    <p188:txBody>
      <a:bodyPr/>
      <a:lstStyle/>
      <a:p>
        <a:r>
          <a:rPr lang="en-CA"/>
          <a:t>I edited this slide for spacing</a:t>
        </a:r>
      </a:p>
    </p188:txBody>
  </p188:cm>
  <p188:cm id="{28CDED63-C8FE-4C57-A514-1B5EE619E351}" authorId="{A73BC259-B2AE-68CD-253D-D1E29458BE19}" created="2025-03-07T14:59:14.76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713647629" sldId="269"/>
      <ac:spMk id="7" creationId="{E1A33F09-173E-D4E3-B2CF-E590569C3C0D}"/>
      <ac:txMk cp="345" len="22">
        <ac:context len="1008" hash="1779046379"/>
      </ac:txMk>
    </ac:txMkLst>
    <p188:pos x="9334224" y="1568545"/>
    <p188:txBody>
      <a:bodyPr/>
      <a:lstStyle/>
      <a:p>
        <a:r>
          <a:rPr lang="en-CA"/>
          <a:t>Not just for UAT testing, this is common practice</a:t>
        </a:r>
      </a:p>
    </p188:txBody>
  </p188:cm>
</p188:cmLst>
</file>

<file path=ppt/comments/modernComment_112_6FBA3DF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11F1E8D-3DA6-4B41-86E8-A7A7274502A9}" authorId="{A73BC259-B2AE-68CD-253D-D1E29458BE19}" created="2025-03-07T14:55:24.910">
    <pc:sldMkLst xmlns:pc="http://schemas.microsoft.com/office/powerpoint/2013/main/command">
      <pc:docMk/>
      <pc:sldMk cId="1874476536" sldId="274"/>
    </pc:sldMkLst>
    <p188:txBody>
      <a:bodyPr/>
      <a:lstStyle/>
      <a:p>
        <a:r>
          <a:rPr lang="en-CA"/>
          <a:t>practitionerregistry@gov.mb.ca</a:t>
        </a:r>
      </a:p>
    </p188:txBody>
  </p188:cm>
  <p188:cm id="{C64FB63E-D76C-48B5-9576-9116FA6E6AB3}" authorId="{A73BC259-B2AE-68CD-253D-D1E29458BE19}" created="2025-03-07T14:57:28.35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874476536" sldId="274"/>
      <ac:spMk id="4" creationId="{5D581CDE-AD30-5B36-FC0E-CE81CDA80DF4}"/>
      <ac:txMk cp="93" len="128">
        <ac:context len="457" hash="2957856653"/>
      </ac:txMk>
    </ac:txMkLst>
    <p188:pos x="10146890" y="612057"/>
    <p188:txBody>
      <a:bodyPr/>
      <a:lstStyle/>
      <a:p>
        <a:r>
          <a:rPr lang="en-CA"/>
          <a:t>I don’t see the actual file format mentioned in this document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4D2E18-1F8F-4548-B1DA-5C030B5397AC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DE76F9-BF74-4789-BFE1-10A4AF87E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436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gi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57166"/>
            <a:ext cx="10363200" cy="677108"/>
          </a:xfrm>
          <a:prstGeom prst="rect">
            <a:avLst/>
          </a:prstGeom>
          <a:noFill/>
        </p:spPr>
        <p:txBody>
          <a:bodyPr lIns="0" tIns="0" rIns="0" bIns="0"/>
          <a:lstStyle>
            <a:lvl1pPr algn="ctr">
              <a:defRPr sz="4400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728398"/>
            <a:ext cx="8534400" cy="427746"/>
          </a:xfrm>
        </p:spPr>
        <p:txBody>
          <a:bodyPr>
            <a:spAutoFit/>
          </a:bodyPr>
          <a:lstStyle>
            <a:lvl1pPr marL="0" indent="0" algn="ctr">
              <a:buNone/>
              <a:defRPr sz="2000" b="1">
                <a:solidFill>
                  <a:srgbClr val="FFFFFF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subtitle style</a:t>
            </a:r>
          </a:p>
        </p:txBody>
      </p:sp>
      <p:pic>
        <p:nvPicPr>
          <p:cNvPr id="6" name="Picture 2" descr="Manitoba Blue Cross logo">
            <a:extLst>
              <a:ext uri="{FF2B5EF4-FFF2-40B4-BE49-F238E27FC236}">
                <a16:creationId xmlns:a16="http://schemas.microsoft.com/office/drawing/2014/main" id="{67DB1941-7E59-4462-9976-C658A994CE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59612" y="5473016"/>
            <a:ext cx="3200400" cy="100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3" descr="Blue Cross Blue Shield Logo">
            <a:extLst>
              <a:ext uri="{FF2B5EF4-FFF2-40B4-BE49-F238E27FC236}">
                <a16:creationId xmlns:a16="http://schemas.microsoft.com/office/drawing/2014/main" id="{B35BDB84-321D-4555-81A9-2B73C55611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08691" y="5643894"/>
            <a:ext cx="1170751" cy="658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2326852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613692"/>
            <a:ext cx="10363200" cy="677108"/>
          </a:xfrm>
          <a:prstGeom prst="rect">
            <a:avLst/>
          </a:prstGeom>
          <a:noFill/>
        </p:spPr>
        <p:txBody>
          <a:bodyPr lIns="0" tIns="0" rIns="0" bIns="0"/>
          <a:lstStyle>
            <a:lvl1pPr algn="ctr">
              <a:defRPr sz="4400" spc="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3584924"/>
            <a:ext cx="8534400" cy="427746"/>
          </a:xfrm>
        </p:spPr>
        <p:txBody>
          <a:bodyPr>
            <a:spAutoFit/>
          </a:bodyPr>
          <a:lstStyle>
            <a:lvl1pPr marL="0" indent="0" algn="ctr">
              <a:buNone/>
              <a:defRPr sz="2000" b="1">
                <a:solidFill>
                  <a:srgbClr val="FFFFFF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44741458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3"/>
                </a:solidFill>
              </a:defRPr>
            </a:lvl1pPr>
          </a:lstStyle>
          <a:p>
            <a:fld id="{9D9A6ECA-EA7E-4D49-ABE6-64C842B852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520995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id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682" y="790884"/>
            <a:ext cx="4011084" cy="1384995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3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60962" y="1899294"/>
            <a:ext cx="5418881" cy="233935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9682" y="2332138"/>
            <a:ext cx="4011084" cy="427746"/>
          </a:xfr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3"/>
                </a:solidFill>
              </a:defRPr>
            </a:lvl1pPr>
          </a:lstStyle>
          <a:p>
            <a:fld id="{9D9A6ECA-EA7E-4D49-ABE6-64C842B852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774766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2894693"/>
          </a:xfrm>
          <a:prstGeom prst="roundRect">
            <a:avLst>
              <a:gd name="adj" fmla="val 2072"/>
            </a:avLst>
          </a:prstGeom>
          <a:solidFill>
            <a:srgbClr val="FFFFFF"/>
          </a:solidFill>
          <a:effectLst>
            <a:outerShdw blurRad="254000" dist="127000" dir="2700000" algn="tl" rotWithShape="0">
              <a:prstClr val="black">
                <a:alpha val="10000"/>
              </a:prstClr>
            </a:outerShdw>
          </a:effectLst>
        </p:spPr>
        <p:txBody>
          <a:bodyPr lIns="182880" tIns="182880" rIns="182880" bIns="182880"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2894693"/>
          </a:xfrm>
          <a:prstGeom prst="roundRect">
            <a:avLst>
              <a:gd name="adj" fmla="val 2672"/>
            </a:avLst>
          </a:prstGeom>
          <a:solidFill>
            <a:srgbClr val="FFFFFF"/>
          </a:solidFill>
          <a:effectLst>
            <a:outerShdw blurRad="254000" dist="127000" dir="2700000" algn="tl" rotWithShape="0">
              <a:prstClr val="black">
                <a:alpha val="10000"/>
              </a:prstClr>
            </a:outerShdw>
          </a:effectLst>
        </p:spPr>
        <p:txBody>
          <a:bodyPr lIns="182880" tIns="182880" rIns="182880" bIns="182880"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3"/>
                </a:solidFill>
              </a:defRPr>
            </a:lvl1pPr>
          </a:lstStyle>
          <a:p>
            <a:fld id="{9D9A6ECA-EA7E-4D49-ABE6-64C842B852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26281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38727"/>
            <a:ext cx="5386917" cy="436148"/>
          </a:xfrm>
          <a:prstGeom prst="roundRect">
            <a:avLst/>
          </a:prstGeom>
          <a:solidFill>
            <a:schemeClr val="tx1"/>
          </a:solidFill>
          <a:effectLst>
            <a:outerShdw blurRad="254000" dist="127000" dir="2700000" algn="tl" rotWithShape="0">
              <a:prstClr val="black">
                <a:alpha val="10000"/>
              </a:prstClr>
            </a:outerShdw>
          </a:effectLst>
        </p:spPr>
        <p:txBody>
          <a:bodyPr lIns="182880" tIns="45720" rIns="182880" anchor="ctr"/>
          <a:lstStyle>
            <a:lvl1pPr marL="0" indent="0">
              <a:buNone/>
              <a:defRPr sz="1800" b="1">
                <a:solidFill>
                  <a:srgbClr val="FFFF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32748"/>
            <a:ext cx="5386917" cy="2641661"/>
          </a:xfrm>
          <a:prstGeom prst="roundRect">
            <a:avLst>
              <a:gd name="adj" fmla="val 3251"/>
            </a:avLst>
          </a:prstGeom>
          <a:solidFill>
            <a:srgbClr val="FFFFFF"/>
          </a:solidFill>
          <a:effectLst>
            <a:outerShdw blurRad="254000" dist="127000" dir="2700000" algn="tl" rotWithShape="0">
              <a:prstClr val="black">
                <a:alpha val="10000"/>
              </a:prstClr>
            </a:outerShdw>
          </a:effectLst>
        </p:spPr>
        <p:txBody>
          <a:bodyPr lIns="182880" tIns="182880" rIns="182880" bIns="182880"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738727"/>
            <a:ext cx="5389033" cy="436148"/>
          </a:xfrm>
          <a:prstGeom prst="roundRect">
            <a:avLst/>
          </a:prstGeom>
          <a:solidFill>
            <a:schemeClr val="tx1"/>
          </a:solidFill>
          <a:effectLst>
            <a:outerShdw blurRad="254000" dist="127000" dir="2700000" algn="tl" rotWithShape="0">
              <a:prstClr val="black">
                <a:alpha val="10000"/>
              </a:prstClr>
            </a:outerShdw>
          </a:effectLst>
        </p:spPr>
        <p:txBody>
          <a:bodyPr lIns="182880" tIns="45720" rIns="182880" anchor="ctr"/>
          <a:lstStyle>
            <a:lvl1pPr marL="0" indent="0">
              <a:buNone/>
              <a:defRPr sz="1800" b="1">
                <a:solidFill>
                  <a:srgbClr val="FFFF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232748"/>
            <a:ext cx="5389033" cy="2641661"/>
          </a:xfrm>
          <a:prstGeom prst="roundRect">
            <a:avLst>
              <a:gd name="adj" fmla="val 3027"/>
            </a:avLst>
          </a:prstGeom>
          <a:solidFill>
            <a:srgbClr val="FFFFFF"/>
          </a:solidFill>
          <a:effectLst>
            <a:outerShdw blurRad="254000" dist="127000" dir="2700000" algn="tl" rotWithShape="0">
              <a:prstClr val="black">
                <a:alpha val="10000"/>
              </a:prstClr>
            </a:outerShdw>
          </a:effectLst>
        </p:spPr>
        <p:txBody>
          <a:bodyPr lIns="182880" tIns="182880" rIns="182880" bIns="182880"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D9A6ECA-EA7E-4D49-ABE6-64C842B852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719393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and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16249" y="1738727"/>
            <a:ext cx="5389033" cy="436148"/>
          </a:xfrm>
          <a:prstGeom prst="roundRect">
            <a:avLst/>
          </a:prstGeom>
          <a:solidFill>
            <a:schemeClr val="tx1"/>
          </a:solidFill>
          <a:effectLst>
            <a:outerShdw blurRad="254000" dist="127000" dir="2700000" algn="tl" rotWithShape="0">
              <a:prstClr val="black">
                <a:alpha val="10000"/>
              </a:prstClr>
            </a:outerShdw>
          </a:effectLst>
        </p:spPr>
        <p:txBody>
          <a:bodyPr lIns="182880" tIns="45720" rIns="182880" anchor="ctr"/>
          <a:lstStyle>
            <a:lvl1pPr marL="0" indent="0">
              <a:buNone/>
              <a:defRPr sz="1800" b="1">
                <a:solidFill>
                  <a:srgbClr val="FFFF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16249" y="2232748"/>
            <a:ext cx="5389033" cy="2641661"/>
          </a:xfrm>
          <a:prstGeom prst="roundRect">
            <a:avLst>
              <a:gd name="adj" fmla="val 3027"/>
            </a:avLst>
          </a:prstGeom>
          <a:solidFill>
            <a:srgbClr val="FFFFFF"/>
          </a:solidFill>
          <a:effectLst>
            <a:outerShdw blurRad="254000" dist="127000" dir="2700000" algn="tl" rotWithShape="0">
              <a:prstClr val="black">
                <a:alpha val="10000"/>
              </a:prstClr>
            </a:outerShdw>
          </a:effectLst>
        </p:spPr>
        <p:txBody>
          <a:bodyPr lIns="182880" tIns="182880" rIns="182880" bIns="182880"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D9A6ECA-EA7E-4D49-ABE6-64C842B852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3AF2C07-227D-4966-9A55-05180BC253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69666" y="1738727"/>
            <a:ext cx="3830637" cy="1853071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0" indent="-285750">
              <a:buFont typeface="Wingdings" panose="05000000000000000000" pitchFamily="2" charset="2"/>
              <a:buChar char="§"/>
              <a:defRPr/>
            </a:lvl2pPr>
            <a:lvl3pPr marL="740664" indent="-283464">
              <a:defRPr/>
            </a:lvl3pPr>
            <a:lvl4pPr marL="1143000"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8310339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2728398"/>
            <a:ext cx="8534400" cy="427746"/>
          </a:xfrm>
        </p:spPr>
        <p:txBody>
          <a:bodyPr>
            <a:spAutoFit/>
          </a:bodyPr>
          <a:lstStyle>
            <a:lvl1pPr marL="0" indent="0" algn="ctr">
              <a:buNone/>
              <a:defRPr sz="2000" b="1">
                <a:solidFill>
                  <a:srgbClr val="FFFFFF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Picture 3" descr="Blue Cross Blue Shield Logo">
            <a:extLst>
              <a:ext uri="{FF2B5EF4-FFF2-40B4-BE49-F238E27FC236}">
                <a16:creationId xmlns:a16="http://schemas.microsoft.com/office/drawing/2014/main" id="{51A05BBE-A075-4AF6-989A-A1D1A41572B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49104" y="5669765"/>
            <a:ext cx="1170751" cy="658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2">
            <a:extLst>
              <a:ext uri="{FF2B5EF4-FFF2-40B4-BE49-F238E27FC236}">
                <a16:creationId xmlns:a16="http://schemas.microsoft.com/office/drawing/2014/main" id="{67DE2C92-BCE0-4279-84EC-08D6C0B471FB}"/>
              </a:ext>
            </a:extLst>
          </p:cNvPr>
          <p:cNvSpPr txBox="1"/>
          <p:nvPr userDrawn="1"/>
        </p:nvSpPr>
        <p:spPr>
          <a:xfrm>
            <a:off x="5410200" y="5791200"/>
            <a:ext cx="395390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®*The Blue Cross symbol and name and </a:t>
            </a:r>
            <a:r>
              <a:rPr lang="en-US" sz="7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Colour</a:t>
            </a:r>
            <a:r>
              <a:rPr lang="en-US" sz="7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Caring are registered marks of the Canadian Association of Blue Cross Plans, independently licensed by Manitoba Blue Cross. †Blue Shield is a registered trade-mark of the Blue Cross Blue Shield Association.</a:t>
            </a: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AC4B82D1-8A75-4ED6-9FC7-B3B282B8997B}"/>
              </a:ext>
            </a:extLst>
          </p:cNvPr>
          <p:cNvSpPr/>
          <p:nvPr userDrawn="1"/>
        </p:nvSpPr>
        <p:spPr>
          <a:xfrm>
            <a:off x="3352800" y="1746911"/>
            <a:ext cx="5486400" cy="707886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b="1" cap="all" spc="1000" dirty="0">
                <a:solidFill>
                  <a:srgbClr val="FFFFFF"/>
                </a:solidFill>
                <a:latin typeface="+mj-lt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63302844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-241139" y="366254"/>
            <a:ext cx="6543554" cy="635675"/>
          </a:xfrm>
          <a:prstGeom prst="roundRect">
            <a:avLst>
              <a:gd name="adj" fmla="val 14179"/>
            </a:avLst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822960" tIns="137160" rIns="182880" bIns="13716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2339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3"/>
                </a:solidFill>
              </a:defRPr>
            </a:lvl1pPr>
          </a:lstStyle>
          <a:p>
            <a:fld id="{9D9A6ECA-EA7E-4D49-ABE6-64C842B852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04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1" r:id="rId2"/>
    <p:sldLayoutId id="2147483663" r:id="rId3"/>
    <p:sldLayoutId id="2147483669" r:id="rId4"/>
    <p:sldLayoutId id="2147483665" r:id="rId5"/>
    <p:sldLayoutId id="2147483666" r:id="rId6"/>
    <p:sldLayoutId id="2147483672" r:id="rId7"/>
    <p:sldLayoutId id="2147483670" r:id="rId8"/>
  </p:sldLayoutIdLst>
  <p:transition spd="slow">
    <p:wipe/>
  </p:transition>
  <p:txStyles>
    <p:titleStyle>
      <a:lvl1pPr algn="l" rtl="0" eaLnBrk="1" fontAlgn="base" hangingPunct="1">
        <a:spcBef>
          <a:spcPct val="0"/>
        </a:spcBef>
        <a:spcAft>
          <a:spcPct val="0"/>
        </a:spcAft>
        <a:defRPr sz="2000" b="1" cap="all" spc="100" baseline="0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lnSpc>
          <a:spcPct val="120000"/>
        </a:lnSpc>
        <a:spcBef>
          <a:spcPts val="12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1800">
          <a:solidFill>
            <a:schemeClr val="accent3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lnSpc>
          <a:spcPct val="120000"/>
        </a:lnSpc>
        <a:spcBef>
          <a:spcPts val="12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defRPr sz="1800">
          <a:solidFill>
            <a:schemeClr val="accent3"/>
          </a:solidFill>
          <a:latin typeface="+mn-lt"/>
        </a:defRPr>
      </a:lvl2pPr>
      <a:lvl3pPr marL="1143000" indent="-228600" algn="l" rtl="0" eaLnBrk="1" fontAlgn="base" hangingPunct="1">
        <a:lnSpc>
          <a:spcPct val="120000"/>
        </a:lnSpc>
        <a:spcBef>
          <a:spcPts val="12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defRPr sz="1800">
          <a:solidFill>
            <a:schemeClr val="accent3"/>
          </a:solidFill>
          <a:latin typeface="+mn-lt"/>
        </a:defRPr>
      </a:lvl3pPr>
      <a:lvl4pPr marL="1600200" indent="-228600" algn="l" rtl="0" eaLnBrk="1" fontAlgn="base" hangingPunct="1">
        <a:lnSpc>
          <a:spcPct val="120000"/>
        </a:lnSpc>
        <a:spcBef>
          <a:spcPts val="12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defRPr sz="1800">
          <a:solidFill>
            <a:schemeClr val="accent3"/>
          </a:solidFill>
          <a:latin typeface="+mn-lt"/>
        </a:defRPr>
      </a:lvl4pPr>
      <a:lvl5pPr marL="2057400" indent="-228600" algn="l" rtl="0" eaLnBrk="1" fontAlgn="base" hangingPunct="1">
        <a:lnSpc>
          <a:spcPct val="120000"/>
        </a:lnSpc>
        <a:spcBef>
          <a:spcPts val="12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defRPr sz="1800">
          <a:solidFill>
            <a:schemeClr val="accent3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2_6FBA3DF8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D_DD59C40D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eclaims.ecserv.ca/login" TargetMode="External"/><Relationship Id="rId2" Type="http://schemas.openxmlformats.org/officeDocument/2006/relationships/hyperlink" Target="https://portal.eclaims.uat.ecserv.ca/login" TargetMode="Externa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EA4503-4F71-B315-F4CA-FC99A9CD5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7693" y="1930856"/>
            <a:ext cx="8158202" cy="2442329"/>
          </a:xfrm>
        </p:spPr>
        <p:txBody>
          <a:bodyPr/>
          <a:lstStyle/>
          <a:p>
            <a:r>
              <a:rPr lang="en-US" sz="3600" dirty="0"/>
              <a:t>           </a:t>
            </a:r>
            <a:r>
              <a:rPr lang="en-US" sz="3600" dirty="0" err="1"/>
              <a:t>Eclaims</a:t>
            </a:r>
            <a:r>
              <a:rPr lang="en-US" sz="3600" dirty="0"/>
              <a:t> Portal </a:t>
            </a:r>
            <a:br>
              <a:rPr lang="en-US" sz="3600" dirty="0"/>
            </a:br>
            <a:r>
              <a:rPr lang="en-US" sz="3600" dirty="0"/>
              <a:t>     Vendor onboarding     	   AND UAT test PLAN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850665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9E30B-3B41-4DEB-B0EC-267C540E2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3C011657-3338-AC7E-E3FC-056C1D34069A}"/>
              </a:ext>
            </a:extLst>
          </p:cNvPr>
          <p:cNvSpPr txBox="1"/>
          <p:nvPr/>
        </p:nvSpPr>
        <p:spPr>
          <a:xfrm>
            <a:off x="503339" y="1270717"/>
            <a:ext cx="9890621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0206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Vendor onboarding – Portal &amp; API </a:t>
            </a:r>
          </a:p>
          <a:p>
            <a:endParaRPr lang="en-US" sz="2400" dirty="0">
              <a:solidFill>
                <a:srgbClr val="00206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File name changes  for Submission and Remittance files.</a:t>
            </a:r>
          </a:p>
          <a:p>
            <a:endParaRPr lang="en-US" sz="2400" dirty="0">
              <a:solidFill>
                <a:srgbClr val="00206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Testing through eClaims Portal.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0206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Testing through eClaims Portal APIs.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0206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UAT Run schedule.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0206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Point of contact for API onboarding, Queries and technical issues.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CA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1764730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0AF32-2F05-4D33-42F6-6F1048D0B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1139" y="366254"/>
            <a:ext cx="6543554" cy="635675"/>
          </a:xfrm>
        </p:spPr>
        <p:txBody>
          <a:bodyPr/>
          <a:lstStyle/>
          <a:p>
            <a:r>
              <a:rPr lang="en-US" dirty="0"/>
              <a:t>Vendor onboarding – Portal &amp; API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581CDE-AD30-5B36-FC0E-CE81CDA80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3004156"/>
          </a:xfrm>
        </p:spPr>
        <p:txBody>
          <a:bodyPr/>
          <a:lstStyle/>
          <a:p>
            <a:r>
              <a:rPr lang="en-US" dirty="0"/>
              <a:t>Vendors and the corresponding </a:t>
            </a:r>
            <a:r>
              <a:rPr lang="en-US" dirty="0" err="1"/>
              <a:t>UserSites</a:t>
            </a:r>
            <a:r>
              <a:rPr lang="en-US" dirty="0"/>
              <a:t> can access eClaims services through Portal and APIs.</a:t>
            </a:r>
          </a:p>
          <a:p>
            <a:r>
              <a:rPr lang="en-US" dirty="0"/>
              <a:t>Portal services will be enabled for the </a:t>
            </a:r>
            <a:r>
              <a:rPr lang="en-US" dirty="0" err="1"/>
              <a:t>UserSites</a:t>
            </a:r>
            <a:r>
              <a:rPr lang="en-US" dirty="0"/>
              <a:t> if the Vendor is ready with the file name format changes mentioned in slide 3.</a:t>
            </a:r>
          </a:p>
          <a:p>
            <a:r>
              <a:rPr lang="en-US" dirty="0"/>
              <a:t>Vendor can also integrate the eClaims services directly in PMS software through APIs. Specifications for the APIs are already shared to vendor community. </a:t>
            </a:r>
          </a:p>
          <a:p>
            <a:r>
              <a:rPr lang="en-US" dirty="0"/>
              <a:t>Please fill in the onboarding form and share to </a:t>
            </a:r>
            <a:r>
              <a:rPr lang="en-CA" sz="1800" dirty="0">
                <a:effectLst/>
                <a:latin typeface="Segoe UI" panose="020B0502040204020203" pitchFamily="34" charset="0"/>
              </a:rPr>
              <a:t>practitionerregistry@gov.mb.ca</a:t>
            </a:r>
            <a:endParaRPr lang="en-CA" sz="1800" dirty="0"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476536"/>
      </p:ext>
    </p:extLst>
  </p:cSld>
  <p:clrMapOvr>
    <a:masterClrMapping/>
  </p:clrMapOvr>
  <p:transition spd="slow">
    <p:wipe/>
  </p:transition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65D5E-DD91-35E6-6E17-ED1CB7827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44656" y="104082"/>
            <a:ext cx="6543554" cy="970240"/>
          </a:xfrm>
        </p:spPr>
        <p:txBody>
          <a:bodyPr/>
          <a:lstStyle/>
          <a:p>
            <a:r>
              <a:rPr lang="en-US" dirty="0"/>
              <a:t>File name changes  for Submission and Remittance files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92CC8-EE31-2FC3-83EE-70E580D96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541" y="1291107"/>
            <a:ext cx="10972800" cy="6416372"/>
          </a:xfrm>
        </p:spPr>
        <p:txBody>
          <a:bodyPr/>
          <a:lstStyle/>
          <a:p>
            <a:r>
              <a:rPr lang="en-US" dirty="0"/>
              <a:t>Submission file name format, extension and size limits</a:t>
            </a:r>
          </a:p>
          <a:p>
            <a:pPr lvl="1">
              <a:lnSpc>
                <a:spcPts val="1620"/>
              </a:lnSpc>
            </a:pPr>
            <a:r>
              <a:rPr lang="en-CA" b="1" i="0" dirty="0">
                <a:solidFill>
                  <a:srgbClr val="000000"/>
                </a:solidFill>
                <a:effectLst/>
                <a:latin typeface="inherit"/>
              </a:rPr>
              <a:t>File Name Format: </a:t>
            </a:r>
            <a:r>
              <a:rPr lang="en-CA" b="0" i="0" dirty="0" err="1">
                <a:solidFill>
                  <a:srgbClr val="000000"/>
                </a:solidFill>
                <a:effectLst/>
                <a:latin typeface="inherit"/>
              </a:rPr>
              <a:t>usersiteno_YYYYMMDDHHMMSS</a:t>
            </a:r>
            <a:endParaRPr lang="en-CA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lvl="1">
              <a:lnSpc>
                <a:spcPts val="1620"/>
              </a:lnSpc>
            </a:pPr>
            <a:r>
              <a:rPr lang="en-CA" b="1" i="0" dirty="0">
                <a:solidFill>
                  <a:srgbClr val="000000"/>
                </a:solidFill>
                <a:effectLst/>
                <a:latin typeface="inherit"/>
              </a:rPr>
              <a:t>File Extension:</a:t>
            </a:r>
            <a:r>
              <a:rPr lang="en-CA" b="0" i="0" dirty="0">
                <a:solidFill>
                  <a:srgbClr val="000000"/>
                </a:solidFill>
                <a:effectLst/>
                <a:latin typeface="inherit"/>
              </a:rPr>
              <a:t> .txt</a:t>
            </a:r>
            <a:endParaRPr lang="en-CA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lvl="1">
              <a:lnSpc>
                <a:spcPts val="1620"/>
              </a:lnSpc>
            </a:pPr>
            <a:r>
              <a:rPr lang="en-CA" b="1" i="0" dirty="0">
                <a:solidFill>
                  <a:srgbClr val="000000"/>
                </a:solidFill>
                <a:effectLst/>
                <a:latin typeface="inherit"/>
              </a:rPr>
              <a:t>Max File Size:100</a:t>
            </a:r>
            <a:r>
              <a:rPr lang="en-CA" b="0" i="0" dirty="0">
                <a:solidFill>
                  <a:srgbClr val="000000"/>
                </a:solidFill>
                <a:effectLst/>
                <a:latin typeface="inherit"/>
              </a:rPr>
              <a:t> MB</a:t>
            </a:r>
          </a:p>
          <a:p>
            <a:pPr marL="342900" lvl="1" indent="-342900">
              <a:buFont typeface="Wingdings" panose="05000000000000000000" pitchFamily="2" charset="2"/>
              <a:buChar char="§"/>
            </a:pPr>
            <a:r>
              <a:rPr lang="en-CA" dirty="0">
                <a:ea typeface="+mn-ea"/>
                <a:cs typeface="+mn-cs"/>
              </a:rPr>
              <a:t>P1 Report file name format and extension</a:t>
            </a:r>
          </a:p>
          <a:p>
            <a:pPr lvl="1">
              <a:lnSpc>
                <a:spcPts val="1620"/>
              </a:lnSpc>
            </a:pPr>
            <a:r>
              <a:rPr lang="en-US" dirty="0">
                <a:solidFill>
                  <a:srgbClr val="000000"/>
                </a:solidFill>
                <a:latin typeface="inherit"/>
              </a:rPr>
              <a:t>P1_Accepted_usersiteno_</a:t>
            </a:r>
            <a:r>
              <a:rPr lang="en-CA" b="0" i="0" dirty="0">
                <a:solidFill>
                  <a:srgbClr val="000000"/>
                </a:solidFill>
                <a:effectLst/>
                <a:latin typeface="inherit"/>
              </a:rPr>
              <a:t>YYYYMMDDHHMMSS</a:t>
            </a:r>
            <a:r>
              <a:rPr lang="en-US" dirty="0">
                <a:solidFill>
                  <a:srgbClr val="000000"/>
                </a:solidFill>
                <a:latin typeface="inherit"/>
              </a:rPr>
              <a:t>.pdf</a:t>
            </a:r>
          </a:p>
          <a:p>
            <a:pPr lvl="1">
              <a:lnSpc>
                <a:spcPts val="1620"/>
              </a:lnSpc>
            </a:pPr>
            <a:r>
              <a:rPr lang="en-US" dirty="0">
                <a:solidFill>
                  <a:srgbClr val="000000"/>
                </a:solidFill>
                <a:latin typeface="inherit"/>
              </a:rPr>
              <a:t>P1_Rejected_usersiteno_</a:t>
            </a:r>
            <a:r>
              <a:rPr lang="en-CA" b="0" i="0" dirty="0">
                <a:solidFill>
                  <a:srgbClr val="000000"/>
                </a:solidFill>
                <a:effectLst/>
                <a:latin typeface="inherit"/>
              </a:rPr>
              <a:t>YYYYMMDDHHMMSS</a:t>
            </a:r>
            <a:r>
              <a:rPr lang="en-US" dirty="0">
                <a:solidFill>
                  <a:srgbClr val="000000"/>
                </a:solidFill>
                <a:latin typeface="inherit"/>
              </a:rPr>
              <a:t>.pdf</a:t>
            </a:r>
          </a:p>
          <a:p>
            <a:pPr marL="342900" lvl="1" indent="-342900">
              <a:buFont typeface="Wingdings" panose="05000000000000000000" pitchFamily="2" charset="2"/>
              <a:buChar char="§"/>
            </a:pPr>
            <a:r>
              <a:rPr lang="en-US" dirty="0">
                <a:ea typeface="+mn-ea"/>
                <a:cs typeface="+mn-cs"/>
              </a:rPr>
              <a:t>Remittance file name format and extension</a:t>
            </a:r>
          </a:p>
          <a:p>
            <a:pPr lvl="1">
              <a:lnSpc>
                <a:spcPts val="1620"/>
              </a:lnSpc>
            </a:pPr>
            <a:r>
              <a:rPr lang="en-CA" b="1" i="0" dirty="0">
                <a:solidFill>
                  <a:srgbClr val="000000"/>
                </a:solidFill>
                <a:effectLst/>
                <a:latin typeface="inherit"/>
              </a:rPr>
              <a:t>File Name Format: </a:t>
            </a:r>
            <a:r>
              <a:rPr lang="en-CA" b="0" i="0" dirty="0" err="1">
                <a:solidFill>
                  <a:srgbClr val="000000"/>
                </a:solidFill>
                <a:effectLst/>
                <a:latin typeface="inherit"/>
              </a:rPr>
              <a:t>usersiteno_REMYYYYMMDDHHMMSS</a:t>
            </a:r>
            <a:endParaRPr lang="en-CA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lvl="1">
              <a:lnSpc>
                <a:spcPts val="1620"/>
              </a:lnSpc>
            </a:pPr>
            <a:r>
              <a:rPr lang="en-CA" b="1" i="0" dirty="0">
                <a:solidFill>
                  <a:srgbClr val="000000"/>
                </a:solidFill>
                <a:effectLst/>
                <a:latin typeface="inherit"/>
              </a:rPr>
              <a:t>File Extension:</a:t>
            </a:r>
            <a:r>
              <a:rPr lang="en-CA" b="0" i="0" dirty="0">
                <a:solidFill>
                  <a:srgbClr val="000000"/>
                </a:solidFill>
                <a:effectLst/>
                <a:latin typeface="inherit"/>
              </a:rPr>
              <a:t> .txt</a:t>
            </a:r>
            <a:endParaRPr lang="en-CA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marL="342900" lvl="1" indent="-342900">
              <a:buFont typeface="Wingdings" panose="05000000000000000000" pitchFamily="2" charset="2"/>
              <a:buChar char="§"/>
            </a:pPr>
            <a:r>
              <a:rPr lang="en-CA" dirty="0">
                <a:ea typeface="+mn-ea"/>
                <a:cs typeface="+mn-cs"/>
              </a:rPr>
              <a:t>P2 Report file name format and extension</a:t>
            </a:r>
          </a:p>
          <a:p>
            <a:pPr lvl="1">
              <a:lnSpc>
                <a:spcPts val="1620"/>
              </a:lnSpc>
            </a:pPr>
            <a:r>
              <a:rPr lang="en-CA" b="0" i="0" dirty="0" err="1">
                <a:solidFill>
                  <a:srgbClr val="000000"/>
                </a:solidFill>
                <a:effectLst/>
                <a:latin typeface="inherit"/>
              </a:rPr>
              <a:t>usersiteno</a:t>
            </a:r>
            <a:r>
              <a:rPr lang="en-CA" b="0" i="0" dirty="0">
                <a:solidFill>
                  <a:srgbClr val="000000"/>
                </a:solidFill>
                <a:effectLst/>
                <a:latin typeface="inherit"/>
              </a:rPr>
              <a:t> </a:t>
            </a:r>
            <a:r>
              <a:rPr lang="en-US" dirty="0">
                <a:solidFill>
                  <a:srgbClr val="000000"/>
                </a:solidFill>
                <a:latin typeface="inherit"/>
              </a:rPr>
              <a:t>_P2_</a:t>
            </a:r>
            <a:r>
              <a:rPr lang="en-CA" b="0" i="0" dirty="0">
                <a:solidFill>
                  <a:srgbClr val="000000"/>
                </a:solidFill>
                <a:effectLst/>
                <a:latin typeface="inherit"/>
              </a:rPr>
              <a:t> YYYYMMDDHHMMSS</a:t>
            </a:r>
            <a:r>
              <a:rPr lang="en-US" dirty="0">
                <a:solidFill>
                  <a:srgbClr val="000000"/>
                </a:solidFill>
                <a:latin typeface="inherit"/>
              </a:rPr>
              <a:t>.txt</a:t>
            </a:r>
          </a:p>
          <a:p>
            <a:pPr marL="457200" lvl="1" indent="0">
              <a:lnSpc>
                <a:spcPts val="1620"/>
              </a:lnSpc>
              <a:buNone/>
            </a:pPr>
            <a:endParaRPr lang="en-US" dirty="0">
              <a:solidFill>
                <a:srgbClr val="000000"/>
              </a:solidFill>
              <a:latin typeface="inherit"/>
            </a:endParaRPr>
          </a:p>
          <a:p>
            <a:pPr marL="342900" lvl="1" indent="-342900">
              <a:buFont typeface="Wingdings" panose="05000000000000000000" pitchFamily="2" charset="2"/>
              <a:buChar char="§"/>
            </a:pPr>
            <a:endParaRPr lang="en-CA" dirty="0">
              <a:ea typeface="+mn-ea"/>
              <a:cs typeface="+mn-cs"/>
            </a:endParaRPr>
          </a:p>
          <a:p>
            <a:pPr lvl="1">
              <a:lnSpc>
                <a:spcPts val="1620"/>
              </a:lnSpc>
            </a:pPr>
            <a:endParaRPr lang="en-CA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37042067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9E30B-3B41-4DEB-B0EC-267C540E2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0784" y="155560"/>
            <a:ext cx="8151626" cy="635675"/>
          </a:xfrm>
        </p:spPr>
        <p:txBody>
          <a:bodyPr/>
          <a:lstStyle/>
          <a:p>
            <a:r>
              <a:rPr lang="en-US" dirty="0"/>
              <a:t>Testing through eClaims Portal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1A33F09-173E-D4E3-B2CF-E590569C3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450" y="901023"/>
            <a:ext cx="11153192" cy="5688314"/>
          </a:xfrm>
        </p:spPr>
        <p:txBody>
          <a:bodyPr/>
          <a:lstStyle/>
          <a:p>
            <a:r>
              <a:rPr lang="en-US" sz="1400" dirty="0"/>
              <a:t>Vendor to select and share the list of </a:t>
            </a:r>
            <a:r>
              <a:rPr lang="en-US" sz="1400" dirty="0" err="1"/>
              <a:t>UserSites</a:t>
            </a:r>
            <a:r>
              <a:rPr lang="en-US" sz="1400" dirty="0"/>
              <a:t> identified for testing. </a:t>
            </a:r>
          </a:p>
          <a:p>
            <a:r>
              <a:rPr lang="en-US" sz="1400" dirty="0"/>
              <a:t>Please refer to Appendix A for the details to be shared for onboarding  </a:t>
            </a:r>
            <a:r>
              <a:rPr lang="en-US" sz="1400" dirty="0" err="1"/>
              <a:t>UserSites</a:t>
            </a:r>
            <a:r>
              <a:rPr lang="en-US" sz="1400" dirty="0"/>
              <a:t> in </a:t>
            </a:r>
            <a:r>
              <a:rPr lang="en-US" sz="1400" dirty="0" err="1"/>
              <a:t>eclaims</a:t>
            </a:r>
            <a:r>
              <a:rPr lang="en-US" sz="1400" dirty="0"/>
              <a:t> portal.</a:t>
            </a:r>
          </a:p>
          <a:p>
            <a:r>
              <a:rPr lang="en-US" sz="1400" dirty="0"/>
              <a:t>User onboarding is required for submitting claims through eClaims Portal . Please share a valid email Id and contact details of User for providing access to the Portal.  For testing, multiple user sites can be mapped to one User.</a:t>
            </a:r>
          </a:p>
          <a:p>
            <a:r>
              <a:rPr lang="en-US" sz="1400" dirty="0"/>
              <a:t>Please refer to Appendix B for the details to be shared for onboarding a User in eClaims portal.</a:t>
            </a:r>
          </a:p>
          <a:p>
            <a:r>
              <a:rPr lang="en-US" sz="1400" dirty="0"/>
              <a:t>Please refer to Appendix C for eClaims Portal UAT link.</a:t>
            </a:r>
          </a:p>
          <a:p>
            <a:r>
              <a:rPr lang="en-US" sz="1400" dirty="0"/>
              <a:t>Submit claims files for the onboarded </a:t>
            </a:r>
            <a:r>
              <a:rPr lang="en-US" sz="1400" dirty="0" err="1"/>
              <a:t>UserSites</a:t>
            </a:r>
            <a:r>
              <a:rPr lang="en-US" sz="1400" dirty="0"/>
              <a:t> in eClaims portal and verify P1 reports.</a:t>
            </a:r>
          </a:p>
          <a:p>
            <a:r>
              <a:rPr lang="en-US" sz="1400" dirty="0"/>
              <a:t>Please refer to the UAT run schedule in slide 6 for Submission dates and cutoffs.</a:t>
            </a:r>
          </a:p>
          <a:p>
            <a:r>
              <a:rPr lang="en-US" sz="1400" dirty="0"/>
              <a:t>Download Remittance files from eClaims portal and process reconciliation in PMS.</a:t>
            </a:r>
          </a:p>
          <a:p>
            <a:r>
              <a:rPr lang="en-US" sz="1400" dirty="0"/>
              <a:t>Verify P2 reports.</a:t>
            </a:r>
          </a:p>
          <a:p>
            <a:r>
              <a:rPr lang="en-US" sz="1400" dirty="0"/>
              <a:t>Submit real time queries through portal for selected Claims.</a:t>
            </a:r>
          </a:p>
          <a:p>
            <a:r>
              <a:rPr lang="en-US" sz="1400" dirty="0"/>
              <a:t>Verify the Query status of the claim from Portal.</a:t>
            </a:r>
          </a:p>
          <a:p>
            <a:r>
              <a:rPr lang="en-US" sz="1400" dirty="0"/>
              <a:t>Please refer to the eClaims Portal User guide for more details.</a:t>
            </a:r>
          </a:p>
          <a:p>
            <a:endParaRPr lang="en-US" dirty="0"/>
          </a:p>
          <a:p>
            <a:pPr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647629"/>
      </p:ext>
    </p:extLst>
  </p:cSld>
  <p:clrMapOvr>
    <a:masterClrMapping/>
  </p:clrMapOvr>
  <p:transition spd="slow">
    <p:wipe/>
  </p:transition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8BD77-CDF8-6A6D-EEBD-2107FE9E7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6B539-717D-84A2-59F1-0D8E507A3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0784" y="155560"/>
            <a:ext cx="8151626" cy="635675"/>
          </a:xfrm>
        </p:spPr>
        <p:txBody>
          <a:bodyPr/>
          <a:lstStyle/>
          <a:p>
            <a:r>
              <a:rPr lang="en-US" dirty="0"/>
              <a:t>Testing through eClaims Portal APIs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BA6434E-305B-AEE5-0DE2-C72391122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208" y="1194320"/>
            <a:ext cx="11153192" cy="5387636"/>
          </a:xfrm>
        </p:spPr>
        <p:txBody>
          <a:bodyPr/>
          <a:lstStyle/>
          <a:p>
            <a:r>
              <a:rPr lang="en-US" sz="1400" dirty="0"/>
              <a:t>Vendors who completed the development for API integration can participate in UAT testing.</a:t>
            </a:r>
          </a:p>
          <a:p>
            <a:r>
              <a:rPr lang="en-US" sz="1400" dirty="0"/>
              <a:t>Credentials for accessing APIs will be sent to registered email address mentioned in onboarding form.</a:t>
            </a:r>
          </a:p>
          <a:p>
            <a:r>
              <a:rPr lang="en-US" sz="1400" dirty="0"/>
              <a:t> Vendor to select and share the list of </a:t>
            </a:r>
            <a:r>
              <a:rPr lang="en-US" sz="1400" dirty="0" err="1"/>
              <a:t>UserSites</a:t>
            </a:r>
            <a:r>
              <a:rPr lang="en-US" sz="1400" dirty="0"/>
              <a:t> identified for testing.</a:t>
            </a:r>
          </a:p>
          <a:p>
            <a:r>
              <a:rPr lang="en-US" sz="1400" dirty="0"/>
              <a:t>Please refer to Appendix A for the details to be shared for onboarding  </a:t>
            </a:r>
            <a:r>
              <a:rPr lang="en-US" sz="1400" dirty="0" err="1"/>
              <a:t>UserSites</a:t>
            </a:r>
            <a:r>
              <a:rPr lang="en-US" sz="1400" dirty="0"/>
              <a:t> in </a:t>
            </a:r>
            <a:r>
              <a:rPr lang="en-US" sz="1400" dirty="0" err="1"/>
              <a:t>eclaims</a:t>
            </a:r>
            <a:r>
              <a:rPr lang="en-US" sz="1400" dirty="0"/>
              <a:t> portal.</a:t>
            </a:r>
          </a:p>
          <a:p>
            <a:r>
              <a:rPr lang="en-US" sz="1400" dirty="0"/>
              <a:t>An API key will be sent to registered email ID of </a:t>
            </a:r>
            <a:r>
              <a:rPr lang="en-US" sz="1400" dirty="0" err="1"/>
              <a:t>UserSite</a:t>
            </a:r>
            <a:r>
              <a:rPr lang="en-US" sz="1400" dirty="0"/>
              <a:t> selected for eClaims API submission.</a:t>
            </a:r>
          </a:p>
          <a:p>
            <a:r>
              <a:rPr lang="en-US" sz="1400" dirty="0"/>
              <a:t>Submit claims for the selected </a:t>
            </a:r>
            <a:r>
              <a:rPr lang="en-US" sz="1400" dirty="0" err="1"/>
              <a:t>UserSites</a:t>
            </a:r>
            <a:r>
              <a:rPr lang="en-US" sz="1400" dirty="0"/>
              <a:t>  from PMS through eClaims portal API.</a:t>
            </a:r>
          </a:p>
          <a:p>
            <a:r>
              <a:rPr lang="en-US" sz="1400" dirty="0"/>
              <a:t>Please refer to the UAT run schedule in slide 6 for Submission dates and cutoffs.</a:t>
            </a:r>
          </a:p>
          <a:p>
            <a:r>
              <a:rPr lang="en-US" sz="1400" dirty="0"/>
              <a:t>Download remittance files from eClaims portal APIs and process reconciliation in PMS.</a:t>
            </a:r>
          </a:p>
          <a:p>
            <a:r>
              <a:rPr lang="en-US" sz="1400" dirty="0"/>
              <a:t>Verify P2 reports.</a:t>
            </a:r>
          </a:p>
          <a:p>
            <a:r>
              <a:rPr lang="en-US" sz="1400" dirty="0"/>
              <a:t>Submit real time queries through API for selected Claims.</a:t>
            </a:r>
          </a:p>
          <a:p>
            <a:r>
              <a:rPr lang="en-US" sz="1400" dirty="0"/>
              <a:t>Verify the Query status of the claim through API.</a:t>
            </a:r>
          </a:p>
          <a:p>
            <a:r>
              <a:rPr lang="en-US" sz="1400" dirty="0"/>
              <a:t>Please refer to the eClaims Portal API specifications for more details.</a:t>
            </a:r>
          </a:p>
          <a:p>
            <a:r>
              <a:rPr lang="en-US" sz="1400" dirty="0"/>
              <a:t>Please refer to appendix C for UAT &amp; PROD API end points.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3538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9E30B-3B41-4DEB-B0EC-267C540E2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1139" y="190722"/>
            <a:ext cx="8114604" cy="635675"/>
          </a:xfrm>
        </p:spPr>
        <p:txBody>
          <a:bodyPr/>
          <a:lstStyle/>
          <a:p>
            <a:r>
              <a:rPr lang="en-US" dirty="0"/>
              <a:t>UAT RUN SCHEDULE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856B4BF-E534-A314-3127-878B16C022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9373429"/>
              </p:ext>
            </p:extLst>
          </p:nvPr>
        </p:nvGraphicFramePr>
        <p:xfrm>
          <a:off x="875004" y="1055256"/>
          <a:ext cx="10181772" cy="5148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5443">
                  <a:extLst>
                    <a:ext uri="{9D8B030D-6E8A-4147-A177-3AD203B41FA5}">
                      <a16:colId xmlns:a16="http://schemas.microsoft.com/office/drawing/2014/main" val="565922435"/>
                    </a:ext>
                  </a:extLst>
                </a:gridCol>
                <a:gridCol w="2545443">
                  <a:extLst>
                    <a:ext uri="{9D8B030D-6E8A-4147-A177-3AD203B41FA5}">
                      <a16:colId xmlns:a16="http://schemas.microsoft.com/office/drawing/2014/main" val="3738796691"/>
                    </a:ext>
                  </a:extLst>
                </a:gridCol>
                <a:gridCol w="2545443">
                  <a:extLst>
                    <a:ext uri="{9D8B030D-6E8A-4147-A177-3AD203B41FA5}">
                      <a16:colId xmlns:a16="http://schemas.microsoft.com/office/drawing/2014/main" val="2037066046"/>
                    </a:ext>
                  </a:extLst>
                </a:gridCol>
                <a:gridCol w="2545443">
                  <a:extLst>
                    <a:ext uri="{9D8B030D-6E8A-4147-A177-3AD203B41FA5}">
                      <a16:colId xmlns:a16="http://schemas.microsoft.com/office/drawing/2014/main" val="3147066485"/>
                    </a:ext>
                  </a:extLst>
                </a:gridCol>
              </a:tblGrid>
              <a:tr h="732904">
                <a:tc>
                  <a:txBody>
                    <a:bodyPr/>
                    <a:lstStyle/>
                    <a:p>
                      <a:r>
                        <a:rPr lang="en-US" dirty="0"/>
                        <a:t>Schedule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Submission start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Submission Cut-off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Remittance &amp; P2 availability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4753128"/>
                  </a:ext>
                </a:extLst>
              </a:tr>
              <a:tr h="63082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Cycle 1</a:t>
                      </a:r>
                      <a:endParaRPr lang="en-CA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13 Mar 7 AM</a:t>
                      </a:r>
                      <a:endParaRPr lang="en-CA" sz="1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14 Mar 5 PM</a:t>
                      </a:r>
                      <a:endParaRPr lang="en-CA" sz="1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18 Mar 10 AM</a:t>
                      </a:r>
                      <a:endParaRPr lang="en-CA" sz="1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697171"/>
                  </a:ext>
                </a:extLst>
              </a:tr>
              <a:tr h="63082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Cycle 2</a:t>
                      </a:r>
                      <a:endParaRPr lang="en-CA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14 Mar after 5 PM</a:t>
                      </a:r>
                      <a:endParaRPr lang="en-CA" sz="1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19 Mar 5 PM</a:t>
                      </a:r>
                      <a:endParaRPr lang="en-CA" sz="1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21 Mar 10 AM</a:t>
                      </a:r>
                      <a:endParaRPr lang="en-CA" sz="1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24468"/>
                  </a:ext>
                </a:extLst>
              </a:tr>
              <a:tr h="63082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Cycle 3</a:t>
                      </a:r>
                      <a:endParaRPr lang="en-CA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19 Mar after 5 PM</a:t>
                      </a:r>
                      <a:endParaRPr lang="en-CA" sz="1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24 Mar 5 PM</a:t>
                      </a:r>
                      <a:endParaRPr lang="en-CA" sz="1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26 Mar 10 AM</a:t>
                      </a:r>
                      <a:endParaRPr lang="en-CA" sz="1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653911"/>
                  </a:ext>
                </a:extLst>
              </a:tr>
              <a:tr h="63082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Cycle 4</a:t>
                      </a:r>
                      <a:endParaRPr lang="en-CA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24 Mar after 5 PM</a:t>
                      </a:r>
                      <a:endParaRPr lang="en-CA" sz="1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27 Mar 5 PM</a:t>
                      </a:r>
                      <a:endParaRPr lang="en-CA" sz="1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31 Mar 10 AM</a:t>
                      </a:r>
                      <a:endParaRPr lang="en-CA" sz="1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0597731"/>
                  </a:ext>
                </a:extLst>
              </a:tr>
              <a:tr h="630825">
                <a:tc>
                  <a:txBody>
                    <a:bodyPr/>
                    <a:lstStyle/>
                    <a:p>
                      <a:r>
                        <a:rPr lang="en-CA" dirty="0">
                          <a:solidFill>
                            <a:schemeClr val="tx2"/>
                          </a:solidFill>
                        </a:rPr>
                        <a:t>Cycle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27 Mar After 5 PM</a:t>
                      </a:r>
                      <a:endParaRPr lang="en-CA" sz="1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31 Mar 5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 1 Apr 2 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480363"/>
                  </a:ext>
                </a:extLst>
              </a:tr>
              <a:tr h="630825">
                <a:tc>
                  <a:txBody>
                    <a:bodyPr/>
                    <a:lstStyle/>
                    <a:p>
                      <a:r>
                        <a:rPr lang="en-CA" dirty="0">
                          <a:solidFill>
                            <a:schemeClr val="tx2"/>
                          </a:solidFill>
                        </a:rPr>
                        <a:t>Cycle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31 Mar After 5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 Apr 5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 3 Apr 2 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014941"/>
                  </a:ext>
                </a:extLst>
              </a:tr>
              <a:tr h="630825">
                <a:tc>
                  <a:txBody>
                    <a:bodyPr/>
                    <a:lstStyle/>
                    <a:p>
                      <a:r>
                        <a:rPr lang="en-CA" dirty="0">
                          <a:solidFill>
                            <a:schemeClr val="tx2"/>
                          </a:solidFill>
                        </a:rPr>
                        <a:t>Cycle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 Apr After 5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4 Apr 5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 7 Apr 2 PM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193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8169546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4F9C1-DD49-9BD8-3551-FD2FA7448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4C2E6-EBBD-FEC6-4286-7BEC6A5D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1139" y="190722"/>
            <a:ext cx="8114604" cy="635675"/>
          </a:xfrm>
        </p:spPr>
        <p:txBody>
          <a:bodyPr/>
          <a:lstStyle/>
          <a:p>
            <a:r>
              <a:rPr lang="en-US" dirty="0"/>
              <a:t>UAT RUN SCHEDULE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F771C93-36B6-8636-BBB1-735035674B26}"/>
              </a:ext>
            </a:extLst>
          </p:cNvPr>
          <p:cNvGraphicFramePr>
            <a:graphicFrameLocks noGrp="1"/>
          </p:cNvGraphicFramePr>
          <p:nvPr/>
        </p:nvGraphicFramePr>
        <p:xfrm>
          <a:off x="875004" y="1106056"/>
          <a:ext cx="10181772" cy="51856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5443">
                  <a:extLst>
                    <a:ext uri="{9D8B030D-6E8A-4147-A177-3AD203B41FA5}">
                      <a16:colId xmlns:a16="http://schemas.microsoft.com/office/drawing/2014/main" val="565922435"/>
                    </a:ext>
                  </a:extLst>
                </a:gridCol>
                <a:gridCol w="2545443">
                  <a:extLst>
                    <a:ext uri="{9D8B030D-6E8A-4147-A177-3AD203B41FA5}">
                      <a16:colId xmlns:a16="http://schemas.microsoft.com/office/drawing/2014/main" val="3738796691"/>
                    </a:ext>
                  </a:extLst>
                </a:gridCol>
                <a:gridCol w="2545443">
                  <a:extLst>
                    <a:ext uri="{9D8B030D-6E8A-4147-A177-3AD203B41FA5}">
                      <a16:colId xmlns:a16="http://schemas.microsoft.com/office/drawing/2014/main" val="2037066046"/>
                    </a:ext>
                  </a:extLst>
                </a:gridCol>
                <a:gridCol w="2545443">
                  <a:extLst>
                    <a:ext uri="{9D8B030D-6E8A-4147-A177-3AD203B41FA5}">
                      <a16:colId xmlns:a16="http://schemas.microsoft.com/office/drawing/2014/main" val="3147066485"/>
                    </a:ext>
                  </a:extLst>
                </a:gridCol>
              </a:tblGrid>
              <a:tr h="732904">
                <a:tc>
                  <a:txBody>
                    <a:bodyPr/>
                    <a:lstStyle/>
                    <a:p>
                      <a:r>
                        <a:rPr lang="en-US" dirty="0"/>
                        <a:t>Schedule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Submission start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Submission Cut-off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Remittance &amp; P2 availability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4753128"/>
                  </a:ext>
                </a:extLst>
              </a:tr>
              <a:tr h="63082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Cycle 8</a:t>
                      </a:r>
                      <a:endParaRPr lang="en-CA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4 Apr After 5 PM</a:t>
                      </a:r>
                    </a:p>
                    <a:p>
                      <a:pPr marL="0" algn="l" defTabSz="914400" rtl="0" eaLnBrk="1" latinLnBrk="0" hangingPunct="1"/>
                      <a:endParaRPr lang="en-CA" sz="1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8 Apr 5 PM</a:t>
                      </a:r>
                      <a:endParaRPr lang="en-CA" sz="1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9 Apr 2 PM</a:t>
                      </a:r>
                      <a:endParaRPr lang="en-CA" sz="1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697171"/>
                  </a:ext>
                </a:extLst>
              </a:tr>
              <a:tr h="63082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Cycle 9</a:t>
                      </a:r>
                      <a:endParaRPr lang="en-CA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8 Apr After 5 PM</a:t>
                      </a:r>
                      <a:endParaRPr lang="en-CA" sz="1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10 Apr 5 PM</a:t>
                      </a:r>
                      <a:endParaRPr lang="en-CA" sz="1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11 Apr 2 PM</a:t>
                      </a:r>
                      <a:endParaRPr lang="en-CA" sz="1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24468"/>
                  </a:ext>
                </a:extLst>
              </a:tr>
              <a:tr h="63082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Cycle 10</a:t>
                      </a:r>
                      <a:endParaRPr lang="en-CA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10 Apr After 5 PM</a:t>
                      </a:r>
                      <a:endParaRPr lang="en-CA" sz="1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11 Apr 5 PM</a:t>
                      </a:r>
                      <a:endParaRPr lang="en-CA" sz="1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14 Apr 2 PM</a:t>
                      </a:r>
                      <a:endParaRPr lang="en-CA" sz="1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653911"/>
                  </a:ext>
                </a:extLst>
              </a:tr>
              <a:tr h="63082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Cycle 11</a:t>
                      </a:r>
                      <a:endParaRPr lang="en-CA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11 Apr After 5 PM</a:t>
                      </a:r>
                      <a:endParaRPr lang="en-CA" sz="1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15 Apr 5 PM</a:t>
                      </a:r>
                      <a:endParaRPr lang="en-CA" sz="1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17 Apr 10 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0597731"/>
                  </a:ext>
                </a:extLst>
              </a:tr>
              <a:tr h="630825">
                <a:tc>
                  <a:txBody>
                    <a:bodyPr/>
                    <a:lstStyle/>
                    <a:p>
                      <a:r>
                        <a:rPr lang="en-CA" dirty="0">
                          <a:solidFill>
                            <a:schemeClr val="tx2"/>
                          </a:solidFill>
                        </a:rPr>
                        <a:t>Cycle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15 Apr After 5 PM</a:t>
                      </a:r>
                      <a:endParaRPr lang="en-CA" sz="1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en-CA" sz="1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22 Apr 5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24 Apr 10 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770029"/>
                  </a:ext>
                </a:extLst>
              </a:tr>
              <a:tr h="630825">
                <a:tc>
                  <a:txBody>
                    <a:bodyPr/>
                    <a:lstStyle/>
                    <a:p>
                      <a:r>
                        <a:rPr lang="en-CA" dirty="0">
                          <a:solidFill>
                            <a:schemeClr val="tx2"/>
                          </a:solidFill>
                        </a:rPr>
                        <a:t>Cycle 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22 Apr After 5 PM</a:t>
                      </a:r>
                    </a:p>
                    <a:p>
                      <a:pPr marL="0" algn="l" defTabSz="914400" rtl="0" eaLnBrk="1" latinLnBrk="0" hangingPunct="1"/>
                      <a:endParaRPr lang="en-CA" sz="1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24 Apr 5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28 Apr 10 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786402"/>
                  </a:ext>
                </a:extLst>
              </a:tr>
              <a:tr h="630825">
                <a:tc>
                  <a:txBody>
                    <a:bodyPr/>
                    <a:lstStyle/>
                    <a:p>
                      <a:r>
                        <a:rPr lang="en-CA" dirty="0">
                          <a:solidFill>
                            <a:schemeClr val="tx2"/>
                          </a:solidFill>
                        </a:rPr>
                        <a:t>Cycle 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24 Apr After 5 PM</a:t>
                      </a:r>
                    </a:p>
                    <a:p>
                      <a:pPr marL="0" algn="l" defTabSz="914400" rtl="0" eaLnBrk="1" latinLnBrk="0" hangingPunct="1"/>
                      <a:endParaRPr lang="en-CA" sz="1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28 Apr 5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30 Apr 10 AM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957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8078604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5EA5C-5CC8-01F4-A766-F8BA88499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C609C-8AA9-2D26-69DA-09639C102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1139" y="190722"/>
            <a:ext cx="8114604" cy="635675"/>
          </a:xfrm>
        </p:spPr>
        <p:txBody>
          <a:bodyPr/>
          <a:lstStyle/>
          <a:p>
            <a:r>
              <a:rPr lang="en-US" dirty="0"/>
              <a:t>UAT RUN SCHEDULE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245F304-924C-25CC-B987-DD279F784CEF}"/>
              </a:ext>
            </a:extLst>
          </p:cNvPr>
          <p:cNvGraphicFramePr>
            <a:graphicFrameLocks noGrp="1"/>
          </p:cNvGraphicFramePr>
          <p:nvPr/>
        </p:nvGraphicFramePr>
        <p:xfrm>
          <a:off x="875004" y="1106056"/>
          <a:ext cx="10181772" cy="4545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5443">
                  <a:extLst>
                    <a:ext uri="{9D8B030D-6E8A-4147-A177-3AD203B41FA5}">
                      <a16:colId xmlns:a16="http://schemas.microsoft.com/office/drawing/2014/main" val="565922435"/>
                    </a:ext>
                  </a:extLst>
                </a:gridCol>
                <a:gridCol w="2545443">
                  <a:extLst>
                    <a:ext uri="{9D8B030D-6E8A-4147-A177-3AD203B41FA5}">
                      <a16:colId xmlns:a16="http://schemas.microsoft.com/office/drawing/2014/main" val="3738796691"/>
                    </a:ext>
                  </a:extLst>
                </a:gridCol>
                <a:gridCol w="2545443">
                  <a:extLst>
                    <a:ext uri="{9D8B030D-6E8A-4147-A177-3AD203B41FA5}">
                      <a16:colId xmlns:a16="http://schemas.microsoft.com/office/drawing/2014/main" val="2037066046"/>
                    </a:ext>
                  </a:extLst>
                </a:gridCol>
                <a:gridCol w="2545443">
                  <a:extLst>
                    <a:ext uri="{9D8B030D-6E8A-4147-A177-3AD203B41FA5}">
                      <a16:colId xmlns:a16="http://schemas.microsoft.com/office/drawing/2014/main" val="3147066485"/>
                    </a:ext>
                  </a:extLst>
                </a:gridCol>
              </a:tblGrid>
              <a:tr h="732904">
                <a:tc>
                  <a:txBody>
                    <a:bodyPr/>
                    <a:lstStyle/>
                    <a:p>
                      <a:r>
                        <a:rPr lang="en-US" dirty="0"/>
                        <a:t>Schedule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Submission start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Submission Cut-off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Remittance &amp; P2 availability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4753128"/>
                  </a:ext>
                </a:extLst>
              </a:tr>
              <a:tr h="63082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Cycle 15</a:t>
                      </a:r>
                      <a:endParaRPr lang="en-CA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28 Apr After 5 PM</a:t>
                      </a:r>
                    </a:p>
                    <a:p>
                      <a:pPr marL="0" algn="l" defTabSz="914400" rtl="0" eaLnBrk="1" latinLnBrk="0" hangingPunct="1"/>
                      <a:endParaRPr lang="en-CA" sz="1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30 Apr 5 PM</a:t>
                      </a:r>
                      <a:endParaRPr lang="en-CA" sz="1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2 May 10 AM</a:t>
                      </a:r>
                      <a:endParaRPr lang="en-CA" sz="1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697171"/>
                  </a:ext>
                </a:extLst>
              </a:tr>
              <a:tr h="63082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Cycle 16</a:t>
                      </a:r>
                      <a:endParaRPr lang="en-CA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30 Apr After 5 PM</a:t>
                      </a:r>
                      <a:endParaRPr lang="en-CA" sz="1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 May 5 PM</a:t>
                      </a:r>
                      <a:endParaRPr lang="en-CA" sz="1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6 May 10 AM</a:t>
                      </a:r>
                      <a:endParaRPr lang="en-CA" sz="1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24468"/>
                  </a:ext>
                </a:extLst>
              </a:tr>
              <a:tr h="63082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Cycle 17</a:t>
                      </a:r>
                      <a:endParaRPr lang="en-CA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 May After 5 PM</a:t>
                      </a:r>
                      <a:endParaRPr lang="en-CA" sz="1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6 May 5 PM</a:t>
                      </a:r>
                      <a:endParaRPr lang="en-CA" sz="1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8 May 10 AM</a:t>
                      </a:r>
                      <a:endParaRPr lang="en-CA" sz="1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653911"/>
                  </a:ext>
                </a:extLst>
              </a:tr>
              <a:tr h="63082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Cycle 18</a:t>
                      </a:r>
                      <a:endParaRPr lang="en-CA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6 May After 5 PM</a:t>
                      </a:r>
                      <a:endParaRPr lang="en-CA" sz="1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8 Apr 5 PM</a:t>
                      </a:r>
                      <a:endParaRPr lang="en-CA" sz="1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12 May 10 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0597731"/>
                  </a:ext>
                </a:extLst>
              </a:tr>
              <a:tr h="630825">
                <a:tc>
                  <a:txBody>
                    <a:bodyPr/>
                    <a:lstStyle/>
                    <a:p>
                      <a:r>
                        <a:rPr lang="en-CA" dirty="0">
                          <a:solidFill>
                            <a:schemeClr val="tx2"/>
                          </a:solidFill>
                        </a:rPr>
                        <a:t>Cycle 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8 May After 5 PM</a:t>
                      </a:r>
                      <a:endParaRPr lang="en-CA" sz="1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en-CA" sz="1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12 May 5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14 May 10 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770029"/>
                  </a:ext>
                </a:extLst>
              </a:tr>
              <a:tr h="630825">
                <a:tc>
                  <a:txBody>
                    <a:bodyPr/>
                    <a:lstStyle/>
                    <a:p>
                      <a:r>
                        <a:rPr lang="en-CA" dirty="0">
                          <a:solidFill>
                            <a:schemeClr val="tx2"/>
                          </a:solidFill>
                        </a:rPr>
                        <a:t>Cycle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12 May After 5 PM</a:t>
                      </a:r>
                    </a:p>
                    <a:p>
                      <a:pPr marL="0" algn="l" defTabSz="914400" rtl="0" eaLnBrk="1" latinLnBrk="0" hangingPunct="1"/>
                      <a:endParaRPr lang="en-CA" sz="1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14 May 5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16 May 10 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786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3478047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A0550-D465-CA53-57F7-7E3CDF960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BCCD0-8644-5556-5802-A87C9B949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1139" y="190722"/>
            <a:ext cx="8114604" cy="635675"/>
          </a:xfrm>
        </p:spPr>
        <p:txBody>
          <a:bodyPr/>
          <a:lstStyle/>
          <a:p>
            <a:r>
              <a:rPr lang="en-US" dirty="0"/>
              <a:t>Appendix A – </a:t>
            </a:r>
            <a:r>
              <a:rPr lang="en-US" dirty="0" err="1"/>
              <a:t>UserSites</a:t>
            </a:r>
            <a:r>
              <a:rPr lang="en-US" dirty="0"/>
              <a:t> onboarding for UAT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6A42ED-5F94-6CDA-3950-CA395954F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208" y="1194319"/>
            <a:ext cx="11153192" cy="5743367"/>
          </a:xfrm>
        </p:spPr>
        <p:txBody>
          <a:bodyPr/>
          <a:lstStyle/>
          <a:p>
            <a:r>
              <a:rPr lang="en-CA" b="0" i="0" dirty="0" err="1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UserSite</a:t>
            </a:r>
            <a:r>
              <a:rPr lang="en-CA" b="0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 Name </a:t>
            </a:r>
          </a:p>
          <a:p>
            <a:r>
              <a:rPr lang="en-CA" b="0" i="0" dirty="0" err="1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UserSite</a:t>
            </a:r>
            <a:r>
              <a:rPr lang="en-CA" b="0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 ID </a:t>
            </a:r>
            <a:endParaRPr lang="en-CA" dirty="0">
              <a:solidFill>
                <a:schemeClr val="tx2"/>
              </a:solidFill>
              <a:latin typeface="Roboto" panose="02000000000000000000" pitchFamily="2" charset="0"/>
            </a:endParaRPr>
          </a:p>
          <a:p>
            <a:r>
              <a:rPr lang="en-CA" b="0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Contact First Name</a:t>
            </a:r>
          </a:p>
          <a:p>
            <a:r>
              <a:rPr lang="en-CA" dirty="0">
                <a:solidFill>
                  <a:schemeClr val="tx2"/>
                </a:solidFill>
                <a:latin typeface="Roboto" panose="02000000000000000000" pitchFamily="2" charset="0"/>
              </a:rPr>
              <a:t>Contact Last Name</a:t>
            </a:r>
          </a:p>
          <a:p>
            <a:r>
              <a:rPr lang="en-CA" dirty="0">
                <a:solidFill>
                  <a:schemeClr val="tx2"/>
                </a:solidFill>
                <a:latin typeface="Roboto" panose="02000000000000000000" pitchFamily="2" charset="0"/>
              </a:rPr>
              <a:t>Email Id   :  </a:t>
            </a:r>
            <a:r>
              <a:rPr lang="en-CA" i="1" dirty="0">
                <a:solidFill>
                  <a:schemeClr val="tx2"/>
                </a:solidFill>
                <a:latin typeface="Roboto" panose="02000000000000000000" pitchFamily="2" charset="0"/>
              </a:rPr>
              <a:t>API key will be sent to this email ID </a:t>
            </a:r>
            <a:endParaRPr lang="en-US" i="1" dirty="0">
              <a:solidFill>
                <a:schemeClr val="tx2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757138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41177-9074-E2B9-4E9B-20196DB02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30980" y="184089"/>
            <a:ext cx="9628980" cy="759786"/>
          </a:xfrm>
        </p:spPr>
        <p:txBody>
          <a:bodyPr/>
          <a:lstStyle/>
          <a:p>
            <a:r>
              <a:rPr lang="en-US" dirty="0"/>
              <a:t>Point of contact for API onboarding, Queries and technical issues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DB0C4-BC1D-589C-4E8A-96F4DC7B6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880497"/>
          </a:xfrm>
        </p:spPr>
        <p:txBody>
          <a:bodyPr/>
          <a:lstStyle/>
          <a:p>
            <a:r>
              <a:rPr lang="en-US" dirty="0"/>
              <a:t>Point of contact for Vendor Onboarding : </a:t>
            </a:r>
            <a:r>
              <a:rPr lang="en-CA" sz="1800" dirty="0">
                <a:effectLst/>
                <a:latin typeface="Segoe UI" panose="020B0502040204020203" pitchFamily="34" charset="0"/>
              </a:rPr>
              <a:t>practitionerregistry@gov.mb.ca</a:t>
            </a:r>
            <a:endParaRPr lang="en-CA" sz="1800" dirty="0">
              <a:effectLst/>
              <a:latin typeface="Arial" panose="020B0604020202020204" pitchFamily="34" charset="0"/>
            </a:endParaRPr>
          </a:p>
          <a:p>
            <a:r>
              <a:rPr lang="en-CA" dirty="0"/>
              <a:t>Point of contact for all technical queries on API integration : ramakrishna.ananthula@mb.bluecross.ca</a:t>
            </a:r>
          </a:p>
        </p:txBody>
      </p:sp>
    </p:spTree>
    <p:extLst>
      <p:ext uri="{BB962C8B-B14F-4D97-AF65-F5344CB8AC3E}">
        <p14:creationId xmlns:p14="http://schemas.microsoft.com/office/powerpoint/2010/main" val="1441210187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9231A-6763-D87E-EE3B-51F30A982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60019-8FBB-47FA-B6F9-130BC0936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1139" y="190722"/>
            <a:ext cx="8114604" cy="635675"/>
          </a:xfrm>
        </p:spPr>
        <p:txBody>
          <a:bodyPr/>
          <a:lstStyle/>
          <a:p>
            <a:r>
              <a:rPr lang="en-US" dirty="0"/>
              <a:t>Appendix B – User onboarding for UAT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411C5E-4D14-F7F8-F819-4E6040594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208" y="1194319"/>
            <a:ext cx="11153192" cy="4770793"/>
          </a:xfrm>
        </p:spPr>
        <p:txBody>
          <a:bodyPr/>
          <a:lstStyle/>
          <a:p>
            <a:r>
              <a:rPr lang="en-CA" b="0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User Email :  </a:t>
            </a:r>
            <a:r>
              <a:rPr lang="en-CA" b="0" i="1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User login credentials for eClaims portal sent to this email.</a:t>
            </a:r>
          </a:p>
          <a:p>
            <a:r>
              <a:rPr lang="en-CA" b="0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First Name</a:t>
            </a:r>
          </a:p>
          <a:p>
            <a:r>
              <a:rPr lang="en-CA" dirty="0">
                <a:solidFill>
                  <a:schemeClr val="tx2"/>
                </a:solidFill>
                <a:latin typeface="Roboto" panose="02000000000000000000" pitchFamily="2" charset="0"/>
              </a:rPr>
              <a:t>Last Name</a:t>
            </a:r>
          </a:p>
          <a:p>
            <a:r>
              <a:rPr lang="en-CA" dirty="0">
                <a:solidFill>
                  <a:schemeClr val="tx2"/>
                </a:solidFill>
                <a:latin typeface="Roboto" panose="02000000000000000000" pitchFamily="2" charset="0"/>
              </a:rPr>
              <a:t>User Sites   : </a:t>
            </a:r>
            <a:r>
              <a:rPr lang="en-CA" i="1" dirty="0">
                <a:solidFill>
                  <a:schemeClr val="tx2"/>
                </a:solidFill>
                <a:latin typeface="Roboto" panose="02000000000000000000" pitchFamily="2" charset="0"/>
              </a:rPr>
              <a:t>List of </a:t>
            </a:r>
            <a:r>
              <a:rPr lang="en-CA" i="1" dirty="0" err="1">
                <a:solidFill>
                  <a:schemeClr val="tx2"/>
                </a:solidFill>
                <a:latin typeface="Roboto" panose="02000000000000000000" pitchFamily="2" charset="0"/>
              </a:rPr>
              <a:t>UserSites</a:t>
            </a:r>
            <a:r>
              <a:rPr lang="en-CA" i="1" dirty="0">
                <a:solidFill>
                  <a:schemeClr val="tx2"/>
                </a:solidFill>
                <a:latin typeface="Roboto" panose="02000000000000000000" pitchFamily="2" charset="0"/>
              </a:rPr>
              <a:t> to be mapped to the user.</a:t>
            </a:r>
            <a:endParaRPr lang="en-US" i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743345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A8689-50FA-1347-E484-A025F2131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D72E1-9AAF-132A-9F19-C9809EFC6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1139" y="190722"/>
            <a:ext cx="8114604" cy="635675"/>
          </a:xfrm>
        </p:spPr>
        <p:txBody>
          <a:bodyPr/>
          <a:lstStyle/>
          <a:p>
            <a:r>
              <a:rPr lang="en-US" dirty="0"/>
              <a:t>Appendix C – Portal &amp;  API end points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11D7FF-54EE-AE01-75D0-346DFE7FB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415" y="986768"/>
            <a:ext cx="11153192" cy="3311932"/>
          </a:xfrm>
        </p:spPr>
        <p:txBody>
          <a:bodyPr/>
          <a:lstStyle/>
          <a:p>
            <a:r>
              <a:rPr lang="en-US" dirty="0"/>
              <a:t>eClaims UAT Portal link : </a:t>
            </a:r>
            <a:r>
              <a:rPr lang="en-US" dirty="0">
                <a:hlinkClick r:id="rId2"/>
              </a:rPr>
              <a:t>https://portal.eclaims.uat.ecserv.ca/login</a:t>
            </a:r>
            <a:endParaRPr lang="en-US" dirty="0"/>
          </a:p>
          <a:p>
            <a:r>
              <a:rPr lang="en-US" dirty="0"/>
              <a:t>eClaims Production Portal link : </a:t>
            </a:r>
            <a:r>
              <a:rPr lang="en-US" dirty="0">
                <a:hlinkClick r:id="rId3"/>
              </a:rPr>
              <a:t>https://portal.eclaims.ecserv.ca/login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eClaims API end points UAT:  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AutoNum type="arabicPeriod"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E367956-CCF7-013F-E646-E6C090D91D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245741"/>
              </p:ext>
            </p:extLst>
          </p:nvPr>
        </p:nvGraphicFramePr>
        <p:xfrm>
          <a:off x="522023" y="2642734"/>
          <a:ext cx="10967562" cy="32692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4903">
                  <a:extLst>
                    <a:ext uri="{9D8B030D-6E8A-4147-A177-3AD203B41FA5}">
                      <a16:colId xmlns:a16="http://schemas.microsoft.com/office/drawing/2014/main" val="403551422"/>
                    </a:ext>
                  </a:extLst>
                </a:gridCol>
                <a:gridCol w="2912883">
                  <a:extLst>
                    <a:ext uri="{9D8B030D-6E8A-4147-A177-3AD203B41FA5}">
                      <a16:colId xmlns:a16="http://schemas.microsoft.com/office/drawing/2014/main" val="2482064972"/>
                    </a:ext>
                  </a:extLst>
                </a:gridCol>
                <a:gridCol w="5759776">
                  <a:extLst>
                    <a:ext uri="{9D8B030D-6E8A-4147-A177-3AD203B41FA5}">
                      <a16:colId xmlns:a16="http://schemas.microsoft.com/office/drawing/2014/main" val="3215848750"/>
                    </a:ext>
                  </a:extLst>
                </a:gridCol>
              </a:tblGrid>
              <a:tr h="33946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   API Name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Environment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End Point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787546"/>
                  </a:ext>
                </a:extLst>
              </a:tr>
              <a:tr h="30974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Token </a:t>
                      </a:r>
                      <a:endParaRPr lang="en-CA" sz="1000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UAT</a:t>
                      </a:r>
                      <a:endParaRPr lang="en-CA" sz="1000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https://eclaims-mh-uat.manitobabluecross.auth0.com/oauth/token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527038"/>
                  </a:ext>
                </a:extLst>
              </a:tr>
              <a:tr h="19788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Audience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UAT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https://portal.eclaims.uat.ecserv.ca/vendor-api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1670308"/>
                  </a:ext>
                </a:extLst>
              </a:tr>
              <a:tr h="33946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Submission file upload</a:t>
                      </a:r>
                      <a:endParaRPr lang="en-CA" sz="1000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UAT</a:t>
                      </a:r>
                      <a:endParaRPr lang="en-CA" sz="1000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https://api.eclaims.uat.ecserv.ca/eclaim/vendor/upload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855955"/>
                  </a:ext>
                </a:extLst>
              </a:tr>
              <a:tr h="33946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Remittance files list</a:t>
                      </a:r>
                      <a:endParaRPr lang="en-CA" sz="1000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UAT</a:t>
                      </a:r>
                      <a:endParaRPr lang="en-CA" sz="1000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https://api.eclaims.uat.ecserv.ca/eclaim/vendor/remittance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3627316"/>
                  </a:ext>
                </a:extLst>
              </a:tr>
              <a:tr h="33946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Remittance file download</a:t>
                      </a:r>
                      <a:endParaRPr lang="en-CA" sz="1000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UAT</a:t>
                      </a:r>
                      <a:endParaRPr lang="en-CA" sz="1000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https://api.eclaims.uat.ecserv.ca/eclaim/vendor/remittance/download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872004"/>
                  </a:ext>
                </a:extLst>
              </a:tr>
              <a:tr h="33946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P2 files list</a:t>
                      </a:r>
                      <a:endParaRPr lang="en-CA" sz="1000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UAT</a:t>
                      </a:r>
                      <a:endParaRPr lang="en-CA" sz="1000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ttps://api.eclaims.uat.ecserv.ca/eclaim/vendor/p2-reports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0869560"/>
                  </a:ext>
                </a:extLst>
              </a:tr>
              <a:tr h="33946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P2 file download</a:t>
                      </a:r>
                      <a:endParaRPr lang="en-CA" sz="1000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UAT</a:t>
                      </a:r>
                      <a:endParaRPr lang="en-CA" sz="1000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https://api.eclaims.uat.ecserv.ca/eclaim/vendor/p2-reports/download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971812"/>
                  </a:ext>
                </a:extLst>
              </a:tr>
              <a:tr h="33946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Submit Query</a:t>
                      </a:r>
                      <a:endParaRPr lang="en-CA" sz="1000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1515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UAT</a:t>
                      </a:r>
                      <a:endParaRPr kumimoji="0" lang="en-CA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1515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https://api.eclaims.uat.ecserv.ca/eclaim/vendor/query/submit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3788824"/>
                  </a:ext>
                </a:extLst>
              </a:tr>
              <a:tr h="33946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Query Status</a:t>
                      </a:r>
                      <a:endParaRPr lang="en-CA" sz="1000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1515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UAT</a:t>
                      </a:r>
                      <a:endParaRPr kumimoji="0" lang="en-CA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1515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https://api.eclaims.uat.ecserv.ca/eclaim/vendor/query/status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443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8744016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91B3E-AD9A-6934-A658-DCC0A144D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5E774-83C6-2E07-890B-4C5A11E8F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1139" y="190722"/>
            <a:ext cx="8114604" cy="635675"/>
          </a:xfrm>
        </p:spPr>
        <p:txBody>
          <a:bodyPr/>
          <a:lstStyle/>
          <a:p>
            <a:r>
              <a:rPr lang="en-US" dirty="0"/>
              <a:t>Appendix C – Portal &amp;  API end points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F57A70-22A0-75DA-C2BC-AC669D85C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208" y="1194320"/>
            <a:ext cx="11153192" cy="2339358"/>
          </a:xfrm>
        </p:spPr>
        <p:txBody>
          <a:bodyPr/>
          <a:lstStyle/>
          <a:p>
            <a:r>
              <a:rPr lang="en-US" dirty="0"/>
              <a:t>eClaims API end points Production 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AutoNum type="arabicPeriod"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596FC2A-8D80-7BF6-3584-F96F5139D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1297477"/>
              </p:ext>
            </p:extLst>
          </p:nvPr>
        </p:nvGraphicFramePr>
        <p:xfrm>
          <a:off x="429208" y="1916281"/>
          <a:ext cx="10967562" cy="3335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4903">
                  <a:extLst>
                    <a:ext uri="{9D8B030D-6E8A-4147-A177-3AD203B41FA5}">
                      <a16:colId xmlns:a16="http://schemas.microsoft.com/office/drawing/2014/main" val="403551422"/>
                    </a:ext>
                  </a:extLst>
                </a:gridCol>
                <a:gridCol w="2912883">
                  <a:extLst>
                    <a:ext uri="{9D8B030D-6E8A-4147-A177-3AD203B41FA5}">
                      <a16:colId xmlns:a16="http://schemas.microsoft.com/office/drawing/2014/main" val="2482064972"/>
                    </a:ext>
                  </a:extLst>
                </a:gridCol>
                <a:gridCol w="5759776">
                  <a:extLst>
                    <a:ext uri="{9D8B030D-6E8A-4147-A177-3AD203B41FA5}">
                      <a16:colId xmlns:a16="http://schemas.microsoft.com/office/drawing/2014/main" val="3215848750"/>
                    </a:ext>
                  </a:extLst>
                </a:gridCol>
              </a:tblGrid>
              <a:tr h="33946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   API Name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Environment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End Point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787546"/>
                  </a:ext>
                </a:extLst>
              </a:tr>
              <a:tr h="30974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Token </a:t>
                      </a:r>
                      <a:endParaRPr lang="en-CA" sz="1000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PROD</a:t>
                      </a:r>
                      <a:endParaRPr lang="en-CA" sz="1000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https://eclaims-mh-prod.manitobabluecross.auth0.com/oauth/token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527038"/>
                  </a:ext>
                </a:extLst>
              </a:tr>
              <a:tr h="30974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Audience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PROD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https://portal.eclaims.ecserv.ca/vendor-api</a:t>
                      </a:r>
                      <a:endParaRPr lang="en-CA" sz="1000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213874"/>
                  </a:ext>
                </a:extLst>
              </a:tr>
              <a:tr h="33946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Submission file upload</a:t>
                      </a:r>
                      <a:endParaRPr lang="en-CA" sz="1000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1515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PROD</a:t>
                      </a:r>
                      <a:endParaRPr kumimoji="0" lang="en-CA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1515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https://api.eclaims.ecserv.ca/eclaim/vendor/upload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855955"/>
                  </a:ext>
                </a:extLst>
              </a:tr>
              <a:tr h="33946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Remittance files list</a:t>
                      </a:r>
                      <a:endParaRPr lang="en-CA" sz="1000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1515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PROD</a:t>
                      </a:r>
                      <a:endParaRPr kumimoji="0" lang="en-CA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1515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https://api.eclaims.ecserv.ca/eclaim/vendor/remittance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3627316"/>
                  </a:ext>
                </a:extLst>
              </a:tr>
              <a:tr h="33946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Remittance file download</a:t>
                      </a:r>
                      <a:endParaRPr lang="en-CA" sz="1000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1515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PROD</a:t>
                      </a:r>
                      <a:endParaRPr kumimoji="0" lang="en-CA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1515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https://api.eclaims.ecserv.ca/eclaim/vendor/remittance/download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872004"/>
                  </a:ext>
                </a:extLst>
              </a:tr>
              <a:tr h="33946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P2 files list</a:t>
                      </a:r>
                      <a:endParaRPr lang="en-CA" sz="1000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1515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PROD</a:t>
                      </a:r>
                      <a:endParaRPr kumimoji="0" lang="en-CA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1515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ttps://api.eclaims.ecserv.ca/eclaim/vendor/p2-reports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0869560"/>
                  </a:ext>
                </a:extLst>
              </a:tr>
              <a:tr h="33946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P2 file download</a:t>
                      </a:r>
                      <a:endParaRPr lang="en-CA" sz="1000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1515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PROD</a:t>
                      </a:r>
                      <a:endParaRPr kumimoji="0" lang="en-CA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1515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https://api.eclaims.ecserv.ca/eclaim/vendor/p2-reports/download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971812"/>
                  </a:ext>
                </a:extLst>
              </a:tr>
              <a:tr h="33946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Submit Query</a:t>
                      </a:r>
                      <a:endParaRPr lang="en-CA" sz="1000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1515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PROD</a:t>
                      </a:r>
                      <a:endParaRPr kumimoji="0" lang="en-CA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1515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https://api.eclaims.ecserv.ca/eclaim/vendor/query/submit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3788824"/>
                  </a:ext>
                </a:extLst>
              </a:tr>
              <a:tr h="33946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Query Status</a:t>
                      </a:r>
                      <a:endParaRPr lang="en-CA" sz="1000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1515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PROD</a:t>
                      </a:r>
                      <a:endParaRPr kumimoji="0" lang="en-CA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1515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000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https://api.eclaims.ecserv.ca/eclaim/vendor/query/status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443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6559977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5">
            <a:extLst>
              <a:ext uri="{FF2B5EF4-FFF2-40B4-BE49-F238E27FC236}">
                <a16:creationId xmlns:a16="http://schemas.microsoft.com/office/drawing/2014/main" id="{E0DED6A6-29D7-26AD-C4DE-06F019BAC0AD}"/>
              </a:ext>
            </a:extLst>
          </p:cNvPr>
          <p:cNvSpPr txBox="1">
            <a:spLocks noGrp="1"/>
          </p:cNvSpPr>
          <p:nvPr>
            <p:ph idx="1"/>
          </p:nvPr>
        </p:nvSpPr>
        <p:spPr bwMode="auto">
          <a:xfrm>
            <a:off x="609600" y="2294618"/>
            <a:ext cx="10972800" cy="951139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72000" tIns="36000" rIns="72000" bIns="36000" numCol="1" anchor="ctr" anchorCtr="0" compatLnSpc="1">
            <a:prstTxWarp prst="textNoShape">
              <a:avLst/>
            </a:prstTxWarp>
            <a:sp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 cap="all" spc="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indent="0">
              <a:buNone/>
            </a:pPr>
            <a:r>
              <a:rPr lang="en-CA" sz="3600" spc="900" dirty="0">
                <a:solidFill>
                  <a:schemeClr val="bg2">
                    <a:lumMod val="50000"/>
                  </a:schemeClr>
                </a:solidFill>
              </a:rPr>
              <a:t>THANK YOU</a:t>
            </a:r>
            <a:endParaRPr lang="en-US" sz="3600" kern="0" spc="9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1470962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MBC PPT Theme 03282018">
  <a:themeElements>
    <a:clrScheme name="MBC Colours">
      <a:dk1>
        <a:srgbClr val="2BB2E2"/>
      </a:dk1>
      <a:lt1>
        <a:srgbClr val="EEF5FC"/>
      </a:lt1>
      <a:dk2>
        <a:srgbClr val="515151"/>
      </a:dk2>
      <a:lt2>
        <a:srgbClr val="D8EEFA"/>
      </a:lt2>
      <a:accent1>
        <a:srgbClr val="0091D0"/>
      </a:accent1>
      <a:accent2>
        <a:srgbClr val="E47800"/>
      </a:accent2>
      <a:accent3>
        <a:srgbClr val="515151"/>
      </a:accent3>
      <a:accent4>
        <a:srgbClr val="EEF5FC"/>
      </a:accent4>
      <a:accent5>
        <a:srgbClr val="D8EEFA"/>
      </a:accent5>
      <a:accent6>
        <a:srgbClr val="2BB2E2"/>
      </a:accent6>
      <a:hlink>
        <a:srgbClr val="0563C1"/>
      </a:hlink>
      <a:folHlink>
        <a:srgbClr val="954F72"/>
      </a:folHlink>
    </a:clrScheme>
    <a:fontScheme name="MBC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3BFC2B87663D4197B5FED9A2E2FBEC" ma:contentTypeVersion="11" ma:contentTypeDescription="Create a new document." ma:contentTypeScope="" ma:versionID="0d593a046f70f5fb66087b03b9db059b">
  <xsd:schema xmlns:xsd="http://www.w3.org/2001/XMLSchema" xmlns:xs="http://www.w3.org/2001/XMLSchema" xmlns:p="http://schemas.microsoft.com/office/2006/metadata/properties" xmlns:ns2="43462f45-09cc-4e91-9928-fe0998339e5d" xmlns:ns3="90bcef13-c3e6-45e9-bb1c-653e6d274569" targetNamespace="http://schemas.microsoft.com/office/2006/metadata/properties" ma:root="true" ma:fieldsID="23f9eb2dededde25f20c912f1ca7dd28" ns2:_="" ns3:_="">
    <xsd:import namespace="43462f45-09cc-4e91-9928-fe0998339e5d"/>
    <xsd:import namespace="90bcef13-c3e6-45e9-bb1c-653e6d274569"/>
    <xsd:element name="properties">
      <xsd:complexType>
        <xsd:sequence>
          <xsd:element name="documentManagement">
            <xsd:complexType>
              <xsd:all>
                <xsd:element ref="ns2:Category" minOccurs="0"/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Comments" minOccurs="0"/>
                <xsd:element ref="ns2:MediaServiceAutoTag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462f45-09cc-4e91-9928-fe0998339e5d" elementFormDefault="qualified">
    <xsd:import namespace="http://schemas.microsoft.com/office/2006/documentManagement/types"/>
    <xsd:import namespace="http://schemas.microsoft.com/office/infopath/2007/PartnerControls"/>
    <xsd:element name="Category" ma:index="8" nillable="true" ma:displayName="Category" ma:format="Dropdown" ma:internalName="Category">
      <xsd:simpleType>
        <xsd:restriction base="dms:Choice">
          <xsd:enumeration value="Conferences"/>
          <xsd:enumeration value="Contact Lists"/>
          <xsd:enumeration value="EA Team Meetings"/>
          <xsd:enumeration value="Electronic Signature"/>
          <xsd:enumeration value="Meeting Schedule"/>
          <xsd:enumeration value="Miscellaneous"/>
          <xsd:enumeration value="Procedures"/>
          <xsd:enumeration value="Templates"/>
          <xsd:enumeration value="Travel"/>
        </xsd:restriction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Comments" ma:index="15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bcef13-c3e6-45e9-bb1c-653e6d274569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mments xmlns="43462f45-09cc-4e91-9928-fe0998339e5d" xsi:nil="true"/>
    <Category xmlns="43462f45-09cc-4e91-9928-fe0998339e5d">Templates</Category>
  </documentManagement>
</p:properties>
</file>

<file path=customXml/itemProps1.xml><?xml version="1.0" encoding="utf-8"?>
<ds:datastoreItem xmlns:ds="http://schemas.openxmlformats.org/officeDocument/2006/customXml" ds:itemID="{4B09226F-102E-4C56-8DB4-F5B7C84C6C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3462f45-09cc-4e91-9928-fe0998339e5d"/>
    <ds:schemaRef ds:uri="90bcef13-c3e6-45e9-bb1c-653e6d2745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3C986C5-0577-4F28-B116-EABD83D6B9C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CBD8011-2AF5-46D8-98BA-4F1CFA60F4F4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90bcef13-c3e6-45e9-bb1c-653e6d274569"/>
    <ds:schemaRef ds:uri="http://purl.org/dc/dcmitype/"/>
    <ds:schemaRef ds:uri="http://schemas.microsoft.com/office/infopath/2007/PartnerControls"/>
    <ds:schemaRef ds:uri="43462f45-09cc-4e91-9928-fe0998339e5d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MBC PPT Theme 03282018</Template>
  <TotalTime>5984</TotalTime>
  <Words>1479</Words>
  <Application>Microsoft Office PowerPoint</Application>
  <PresentationFormat>Widescreen</PresentationFormat>
  <Paragraphs>258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inherit</vt:lpstr>
      <vt:lpstr>Roboto</vt:lpstr>
      <vt:lpstr>Segoe UI</vt:lpstr>
      <vt:lpstr>Wingdings</vt:lpstr>
      <vt:lpstr>MBC PPT Theme 03282018</vt:lpstr>
      <vt:lpstr>           Eclaims Portal       Vendor onboarding         AND UAT test PLAN  </vt:lpstr>
      <vt:lpstr>Agenda</vt:lpstr>
      <vt:lpstr>Vendor onboarding – Portal &amp; API </vt:lpstr>
      <vt:lpstr>File name changes  for Submission and Remittance files</vt:lpstr>
      <vt:lpstr>Testing through eClaims Portal</vt:lpstr>
      <vt:lpstr>Testing through eClaims Portal APIs</vt:lpstr>
      <vt:lpstr>UAT RUN SCHEDULE</vt:lpstr>
      <vt:lpstr>UAT RUN SCHEDULE</vt:lpstr>
      <vt:lpstr>UAT RUN SCHEDULE</vt:lpstr>
      <vt:lpstr>Appendix A – UserSites onboarding for UAT</vt:lpstr>
      <vt:lpstr>Point of contact for API onboarding, Queries and technical issues</vt:lpstr>
      <vt:lpstr>Appendix B – User onboarding for UAT</vt:lpstr>
      <vt:lpstr>Appendix C – Portal &amp;  API end points</vt:lpstr>
      <vt:lpstr>Appendix C – Portal &amp;  API end points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Manitoba Blue Cross</dc:title>
  <dc:creator>Brenda Slikker</dc:creator>
  <cp:lastModifiedBy>DePauw, Nicole</cp:lastModifiedBy>
  <cp:revision>283</cp:revision>
  <dcterms:created xsi:type="dcterms:W3CDTF">2020-06-18T01:37:53Z</dcterms:created>
  <dcterms:modified xsi:type="dcterms:W3CDTF">2025-07-25T16:47:13Z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0x0101005F3BFC2B87663D4197B5FED9A2E2FBEC</vt:lpwstr>
  </property>
</Properties>
</file>